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bcfaed887244ef" /><Relationship Type="http://schemas.openxmlformats.org/officeDocument/2006/relationships/extended-properties" Target="/docProps/app.xml" Id="R23153efcb6994670" /><Relationship Type="http://schemas.openxmlformats.org/officeDocument/2006/relationships/officeDocument" Target="/ppt/presentation.xml" Id="R15bbaba6e56946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6682fe38c54133"/>
  </p:sldMasterIdLst>
  <p:notesMasterIdLst>
    <p:notesMasterId xmlns:r="http://schemas.openxmlformats.org/officeDocument/2006/relationships" r:id="R1ab30a478564408e"/>
  </p:notesMasterIdLst>
  <p:sldIdLst>
    <p:sldId xmlns:r="http://schemas.openxmlformats.org/officeDocument/2006/relationships" id="256" r:id="Re142ba9c94c347d0"/>
    <p:sldId xmlns:r="http://schemas.openxmlformats.org/officeDocument/2006/relationships" id="257" r:id="Rafb4000874e14301"/>
    <p:sldId xmlns:r="http://schemas.openxmlformats.org/officeDocument/2006/relationships" id="258" r:id="R7d4d2d4baed94c9f"/>
    <p:sldId xmlns:r="http://schemas.openxmlformats.org/officeDocument/2006/relationships" id="259" r:id="R14836c64487e47d6"/>
    <p:sldId xmlns:r="http://schemas.openxmlformats.org/officeDocument/2006/relationships" id="260" r:id="R437f5106c19e4770"/>
    <p:sldId xmlns:r="http://schemas.openxmlformats.org/officeDocument/2006/relationships" id="261" r:id="R950b2d4510e04276"/>
    <p:sldId xmlns:r="http://schemas.openxmlformats.org/officeDocument/2006/relationships" id="262" r:id="Rf0e0b78f9c924229"/>
    <p:sldId xmlns:r="http://schemas.openxmlformats.org/officeDocument/2006/relationships" id="263" r:id="R92633dfdd3d84451"/>
    <p:sldId xmlns:r="http://schemas.openxmlformats.org/officeDocument/2006/relationships" id="264" r:id="R34d13621fcec4c49"/>
    <p:sldId xmlns:r="http://schemas.openxmlformats.org/officeDocument/2006/relationships" id="265" r:id="R71d42c96c4544311"/>
    <p:sldId xmlns:r="http://schemas.openxmlformats.org/officeDocument/2006/relationships" id="266" r:id="R70dbd2bda7204a8a"/>
    <p:sldId xmlns:r="http://schemas.openxmlformats.org/officeDocument/2006/relationships" id="267" r:id="Raa66c557201741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767c4bd905414d" /><Relationship Type="http://schemas.openxmlformats.org/officeDocument/2006/relationships/slideMaster" Target="/ppt/slideMasters/slideMaster1.xml" Id="Rc36682fe38c54133" /><Relationship Type="http://schemas.openxmlformats.org/officeDocument/2006/relationships/notesMaster" Target="/ppt/notesMasters/notesMaster1.xml" Id="R1ab30a478564408e" /><Relationship Type="http://schemas.openxmlformats.org/officeDocument/2006/relationships/presProps" Target="/ppt/presProps.xml" Id="Rf2296a1396e3467e" /><Relationship Type="http://schemas.openxmlformats.org/officeDocument/2006/relationships/tableStyles" Target="/ppt/tableStyles.xml" Id="R34d900fde478448b" /><Relationship Type="http://schemas.openxmlformats.org/officeDocument/2006/relationships/slide" Target="/ppt/slides/slide1.xml" Id="Re142ba9c94c347d0" /><Relationship Type="http://schemas.openxmlformats.org/officeDocument/2006/relationships/slide" Target="/ppt/slides/slide2.xml" Id="Rafb4000874e14301" /><Relationship Type="http://schemas.openxmlformats.org/officeDocument/2006/relationships/slide" Target="/ppt/slides/slide3.xml" Id="R7d4d2d4baed94c9f" /><Relationship Type="http://schemas.openxmlformats.org/officeDocument/2006/relationships/slide" Target="/ppt/slides/slide4.xml" Id="R14836c64487e47d6" /><Relationship Type="http://schemas.openxmlformats.org/officeDocument/2006/relationships/slide" Target="/ppt/slides/slide5.xml" Id="R437f5106c19e4770" /><Relationship Type="http://schemas.openxmlformats.org/officeDocument/2006/relationships/slide" Target="/ppt/slides/slide6.xml" Id="R950b2d4510e04276" /><Relationship Type="http://schemas.openxmlformats.org/officeDocument/2006/relationships/slide" Target="/ppt/slides/slide7.xml" Id="Rf0e0b78f9c924229" /><Relationship Type="http://schemas.openxmlformats.org/officeDocument/2006/relationships/slide" Target="/ppt/slides/slide8.xml" Id="R92633dfdd3d84451" /><Relationship Type="http://schemas.openxmlformats.org/officeDocument/2006/relationships/slide" Target="/ppt/slides/slide9.xml" Id="R34d13621fcec4c49" /><Relationship Type="http://schemas.openxmlformats.org/officeDocument/2006/relationships/slide" Target="/ppt/slides/slide10.xml" Id="R71d42c96c4544311" /><Relationship Type="http://schemas.openxmlformats.org/officeDocument/2006/relationships/slide" Target="/ppt/slides/slide11.xml" Id="R70dbd2bda7204a8a" /><Relationship Type="http://schemas.openxmlformats.org/officeDocument/2006/relationships/slide" Target="/ppt/slides/slide12.xml" Id="Raa66c557201741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07b90f6fc247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45c0393d6646f1" /><Relationship Type="http://schemas.openxmlformats.org/officeDocument/2006/relationships/notesMaster" Target="/ppt/notesMasters/notesMaster1.xml" Id="R43a7668c26754b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78405228d64e45" /><Relationship Type="http://schemas.openxmlformats.org/officeDocument/2006/relationships/notesMaster" Target="/ppt/notesMasters/notesMaster1.xml" Id="R88fcfabe365c4b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6b760584754e0b" /><Relationship Type="http://schemas.openxmlformats.org/officeDocument/2006/relationships/notesMaster" Target="/ppt/notesMasters/notesMaster1.xml" Id="Rcec5d69bf12f4f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b9a4142da54ee4" /><Relationship Type="http://schemas.openxmlformats.org/officeDocument/2006/relationships/notesMaster" Target="/ppt/notesMasters/notesMaster1.xml" Id="Ra421af8b60cf40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3ca96359f44373" /><Relationship Type="http://schemas.openxmlformats.org/officeDocument/2006/relationships/notesMaster" Target="/ppt/notesMasters/notesMaster1.xml" Id="R5090b43fcb0540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0a023a3e1c4c8d" /><Relationship Type="http://schemas.openxmlformats.org/officeDocument/2006/relationships/notesMaster" Target="/ppt/notesMasters/notesMaster1.xml" Id="Rf28e4bfea00d45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cfccd920e34a54" /><Relationship Type="http://schemas.openxmlformats.org/officeDocument/2006/relationships/notesMaster" Target="/ppt/notesMasters/notesMaster1.xml" Id="R4b6b7adc0abb40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50b962bf4b4bcc" /><Relationship Type="http://schemas.openxmlformats.org/officeDocument/2006/relationships/notesMaster" Target="/ppt/notesMasters/notesMaster1.xml" Id="R604ad4fa9ec34a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39113bd64b448f" /><Relationship Type="http://schemas.openxmlformats.org/officeDocument/2006/relationships/notesMaster" Target="/ppt/notesMasters/notesMaster1.xml" Id="Rca4f39a4edce48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ecbeec314d46ba" /><Relationship Type="http://schemas.openxmlformats.org/officeDocument/2006/relationships/notesMaster" Target="/ppt/notesMasters/notesMaster1.xml" Id="Rd7bd5fa5cbee47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5f6752b92f4c9d" /><Relationship Type="http://schemas.openxmlformats.org/officeDocument/2006/relationships/notesMaster" Target="/ppt/notesMasters/notesMaster1.xml" Id="R5a285505a8b64f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51c18d48034ac6" /><Relationship Type="http://schemas.openxmlformats.org/officeDocument/2006/relationships/notesMaster" Target="/ppt/notesMasters/notesMaster1.xml" Id="Rea607593ce394c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screenshots: current code at 9b48d53, captured 24 October 2026 in an isolated sample-data workspace. All people, companies, deal values and research in screenshots are fictional. Screens show the actual application UI, not a live provider run. Source: repository README.md; apps/web/components/crm; apps/api/src/leads; apps/api/src/crm.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screenshots: current code at 9b48d53, captured 24 October 2026 in an isolated sample-data workspace. All people, companies, deal values and research in screenshots are fictional. Screens show the actual application UI, not a live provider run. Source: repository README.md; apps/web/components/crm; apps/api/src/leads; apps/api/src/crm.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screenshots: current code at 9b48d53, captured 24 October 2026 in an isolated sample-data workspace. All people, companies, deal values and research in screenshots are fictional. Screens show the actual application UI, not a live provider run. Source: repository README.md; apps/web/components/crm; apps/api/src/leads; apps/api/src/crm.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screenshots: current code at 9b48d53, captured 24 October 2026 in an isolated sample-data workspace. All people, companies, deal values and research in screenshots are fictional. Screens show the actual application UI, not a live provider run. Source: repository README.md; apps/web/components/crm; apps/api/src/leads; apps/api/src/crm.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screenshots: current code at 9b48d53, captured 24 October 2026 in an isolated sample-data workspace. All people, companies, deal values and research in screenshots are fictional. Screens show the actual application UI, not a live provider run. Source: repository README.md; apps/web/components/crm; apps/api/src/leads; apps/api/src/crm.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screenshots: current code at 9b48d53, captured 24 October 2026 in an isolated sample-data workspace. All people, companies, deal values and research in screenshots are fictional. Screens show the actual application UI, not a live provider run. Source: repository README.md; apps/web/components/crm; apps/api/src/leads; apps/api/src/crm.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screenshots: current code at 9b48d53, captured 24 October 2026 in an isolated sample-data workspace. All people, companies, deal values and research in screenshots are fictional. Screens show the actual application UI, not a live provider run. Source: repository README.md; apps/web/components/crm; apps/api/src/leads; apps/api/src/crm.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screenshots: current code at 9b48d53, captured 24 October 2026 in an isolated sample-data workspace. All people, companies, deal values and research in screenshots are fictional. Screens show the actual application UI, not a live provider run. Source: repository README.md; apps/web/components/crm; apps/api/src/leads; apps/api/src/crm.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screenshots: current code at 9b48d53, captured 24 October 2026 in an isolated sample-data workspace. All people, companies, deal values and research in screenshots are fictional. Screens show the actual application UI, not a live provider run. Source: repository README.md; apps/web/components/crm; apps/api/src/leads; apps/api/src/crm. Architecture sources: apps/api/src/leads/lead-discovery-worker.ts; apps/api/src/leads/lead-deep-discovery.service.ts; apps/worker/src/lead_trace_worker; docker-compose.yml. Calendar is OAuth event creation, not two-way sync.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screenshots: current code at 9b48d53, captured 24 October 2026 in an isolated sample-data workspace. All people, companies, deal values and research in screenshots are fictional. Screens show the actual application UI, not a live provider run. Source: repository README.md; apps/web/components/crm; apps/api/src/leads; apps/api/src/crm.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Recorded live cohort: docs/lead-generation-live-audit.html, captured 23 October 2026. https://github.com/afnanahmadtariq/lead-trace/blob/v1.4.0/docs/lead-generation-live-audit.html . The audit found 9 prospects and 1 fully source-supported match, then completed the CRM-to-research journey with 11 sources and 15 evidence items. Counts describe one small audit, not precision/recall, sales outcomes, or current live results. Future scope is uncommitted and subject to development feedback. Latest implemented CRM deletion controls are not listed as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screenshots: current code at 9b48d53, captured 24 October 2026 in an isolated sample-data workspace. All people, companies, deal values and research in screenshots are fictional. Screens show the actual application UI, not a live provider run. Source: repository README.md; apps/web/components/crm; apps/api/src/leads; apps/api/src/crm.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342a89eca40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1a361b30b04bed" /><Relationship Type="http://schemas.openxmlformats.org/officeDocument/2006/relationships/slideLayout" Target="/ppt/slideLayouts/slideLayout1.xml" Id="R53646ed383184e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646ed383184e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e2d25b12c4a8c" /><Relationship Type="http://schemas.openxmlformats.org/officeDocument/2006/relationships/image" Target="/ppt/media/image.png" Id="R2e7fa74ae99e4f6b" /><Relationship Type="http://schemas.openxmlformats.org/officeDocument/2006/relationships/notesSlide" Target="/ppt/notesSlides/notesSlide1.xml" Id="R233a882867be4f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d7ff826594bda" /><Relationship Type="http://schemas.openxmlformats.org/officeDocument/2006/relationships/image" Target="/ppt/media/image2.png" Id="R1046b4a977eb46a9" /><Relationship Type="http://schemas.openxmlformats.org/officeDocument/2006/relationships/image" Target="/ppt/media/image3.png" Id="R91116e12c6714242" /><Relationship Type="http://schemas.openxmlformats.org/officeDocument/2006/relationships/notesSlide" Target="/ppt/notesSlides/notesSlide2.xml" Id="R56cc016ed2644d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7d3199ea945be" /><Relationship Type="http://schemas.openxmlformats.org/officeDocument/2006/relationships/notesSlide" Target="/ppt/notesSlides/notesSlide3.xml" Id="R2147cbebb7a545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7768d044c4304" /><Relationship Type="http://schemas.openxmlformats.org/officeDocument/2006/relationships/image" Target="/ppt/media/image4.png" Id="Rc305b240c50c459b" /><Relationship Type="http://schemas.openxmlformats.org/officeDocument/2006/relationships/notesSlide" Target="/ppt/notesSlides/notesSlide4.xml" Id="Rc09d98c6e89a4d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ca49487804874" /><Relationship Type="http://schemas.openxmlformats.org/officeDocument/2006/relationships/image" Target="/ppt/media/image5.png" Id="Rf4285cb48bd9418d" /><Relationship Type="http://schemas.openxmlformats.org/officeDocument/2006/relationships/image" Target="/ppt/media/image.svg" Id="Redc056869654470e" /><Relationship Type="http://schemas.openxmlformats.org/officeDocument/2006/relationships/notesSlide" Target="/ppt/notesSlides/notesSlide5.xml" Id="Rfc6eb25ed88741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b922831ec4d97" /><Relationship Type="http://schemas.openxmlformats.org/officeDocument/2006/relationships/image" Target="/ppt/media/image6.png" Id="R44fc69a564594344" /><Relationship Type="http://schemas.openxmlformats.org/officeDocument/2006/relationships/notesSlide" Target="/ppt/notesSlides/notesSlide6.xml" Id="R21ef90d69e2b43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0cc1c1c58475f" /><Relationship Type="http://schemas.openxmlformats.org/officeDocument/2006/relationships/image" Target="/ppt/media/image7.png" Id="R8328aabeb9c94118" /><Relationship Type="http://schemas.openxmlformats.org/officeDocument/2006/relationships/image" Target="/ppt/media/image8.png" Id="R499403cce8c24c54" /><Relationship Type="http://schemas.openxmlformats.org/officeDocument/2006/relationships/notesSlide" Target="/ppt/notesSlides/notesSlide7.xml" Id="R4f3f99669c4e4b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85c08048a457d" /><Relationship Type="http://schemas.openxmlformats.org/officeDocument/2006/relationships/image" Target="/ppt/media/image9.png" Id="R14fd7d2b794b4d98" /><Relationship Type="http://schemas.openxmlformats.org/officeDocument/2006/relationships/notesSlide" Target="/ppt/notesSlides/notesSlide8.xml" Id="Rf2e3373281c34c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dd92f2e65401a" /><Relationship Type="http://schemas.openxmlformats.org/officeDocument/2006/relationships/image" Target="/ppt/media/image10.png" Id="R70a65fa51c184523" /><Relationship Type="http://schemas.openxmlformats.org/officeDocument/2006/relationships/image" Target="/ppt/media/image2.svg" Id="Rb16025ae2c8346d1" /><Relationship Type="http://schemas.openxmlformats.org/officeDocument/2006/relationships/notesSlide" Target="/ppt/notesSlides/notesSlide9.xml" Id="Rc9b14e91034549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1a723fdba41c1" /><Relationship Type="http://schemas.openxmlformats.org/officeDocument/2006/relationships/image" Target="/ppt/media/image11.png" Id="R46a790d31f224eaf" /><Relationship Type="http://schemas.openxmlformats.org/officeDocument/2006/relationships/notesSlide" Target="/ppt/notesSlides/notesSlide10.xml" Id="Rc23411253cf14a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45ece3a4c4ce7" /><Relationship Type="http://schemas.openxmlformats.org/officeDocument/2006/relationships/notesSlide" Target="/ppt/notesSlides/notesSlide11.xml" Id="Rf9b67a9ca5514d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a7eb942734f96" /><Relationship Type="http://schemas.openxmlformats.org/officeDocument/2006/relationships/notesSlide" Target="/ppt/notesSlides/notesSlide12.xml" Id="Rd608eaa9b95d49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8E682-2A7C-40E8-9938-F6BCF77D12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fa74ae99e4f6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25" y="1571625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374FE-022A-49B2-9006-EAA67C19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150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Lead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AD95F-F9BB-4AC4-A7E7-88E4DADD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95600"/>
            <a:ext cx="7429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925"/>
            </a:defPPr>
            <a:lvl1pPr>
              <a:buNone/>
              <a:defRPr sz="2925"/>
            </a:lvl1pPr>
            <a:lvl2pPr>
              <a:buNone/>
              <a:defRPr sz="2925"/>
            </a:lvl2pPr>
            <a:lvl3pPr>
              <a:buNone/>
              <a:defRPr sz="2925"/>
            </a:lvl3pPr>
            <a:lvl4pPr>
              <a:buNone/>
              <a:defRPr sz="2925"/>
            </a:lvl4pPr>
            <a:lvl5pPr>
              <a:buNone/>
              <a:defRPr sz="2925"/>
            </a:lvl5pPr>
            <a:lvl6pPr>
              <a:buNone/>
              <a:defRPr sz="2925"/>
            </a:lvl6pPr>
            <a:lvl7pPr>
              <a:buNone/>
              <a:defRPr sz="2925"/>
            </a:lvl7pPr>
            <a:lvl8pPr>
              <a:buNone/>
              <a:defRPr sz="2925"/>
            </a:lvl8pPr>
            <a:lvl9pPr>
              <a:buNone/>
              <a:defRPr sz="2925"/>
            </a:lvl9pPr>
          </a:lstStyle>
          <a:p xmlns:a="http://schemas.openxmlformats.org/drawingml/2006/main">
            <a:pPr>
              <a:buNone/>
              <a:defRPr sz="3225" b="0">
                <a:solidFill>
                  <a:srgbClr val="1233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123363"/>
                </a:solidFill>
                <a:latin typeface="Helvetica Neue"/>
                <a:ea typeface="Helvetica Neue"/>
                <a:cs typeface="Helvetica Neue"/>
              </a:rPr>
              <a:t>Discover prospects.</a:t>
            </a:r>
          </a:p>
          <a:p xmlns:a="http://schemas.openxmlformats.org/drawingml/2006/main">
            <a:pPr>
              <a:buNone/>
              <a:defRPr sz="3225" b="0">
                <a:solidFill>
                  <a:srgbClr val="1233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123363"/>
                </a:solidFill>
                <a:latin typeface="Helvetica Neue"/>
                <a:ea typeface="Helvetica Neue"/>
                <a:cs typeface="Helvetica Neue"/>
              </a:rPr>
              <a:t>Keep sales moving.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961B9-F03B-47AD-9A36-7FEF4EF8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43450"/>
            <a:ext cx="10610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/>
            </a:defPPr>
            <a:lvl1pPr>
              <a:buNone/>
              <a:defRPr sz="1875"/>
            </a:lvl1pPr>
            <a:lvl2pPr>
              <a:buNone/>
              <a:defRPr sz="1875"/>
            </a:lvl2pPr>
            <a:lvl3pPr>
              <a:buNone/>
              <a:defRPr sz="1875"/>
            </a:lvl3pPr>
            <a:lvl4pPr>
              <a:buNone/>
              <a:defRPr sz="1875"/>
            </a:lvl4pPr>
            <a:lvl5pPr>
              <a:buNone/>
              <a:defRPr sz="1875"/>
            </a:lvl5pPr>
            <a:lvl6pPr>
              <a:buNone/>
              <a:defRPr sz="1875"/>
            </a:lvl6pPr>
            <a:lvl7pPr>
              <a:buNone/>
              <a:defRPr sz="1875"/>
            </a:lvl7pPr>
            <a:lvl8pPr>
              <a:buNone/>
              <a:defRPr sz="1875"/>
            </a:lvl8pPr>
            <a:lvl9pPr>
              <a:buNone/>
              <a:defRPr sz="1875"/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rPr>
              <a:t>Lead discovery, a built-in CRM, and cited sales research in one workspace.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23AF4-F652-449E-A811-AC209A02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8959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rPr>
              <a:t>Current product · 24 October 2026 · leadtrace.online</a:t>
            </a:r>
          </a:p>
        </p:txBody>
      </p:sp>
    </p:spTree>
    <p:extLst>
      <p:ext uri="{BB962C8B-B14F-4D97-AF65-F5344CB8AC3E}">
        <p14:creationId xmlns:p14="http://schemas.microsoft.com/office/powerpoint/2010/main" val="18728747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B4A75-012D-4924-9FED-186277A3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36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36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36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36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36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36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36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36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36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36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InsightIQ is now Lead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79AE0-B0C8-46EF-903E-07D7CF3C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097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21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21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21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21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21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21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21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21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21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rPr>
              <a:t>We listened to feedback from industry professionals and shaped our next stage around the needs of sales teams.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A59C8-163B-4623-A6BA-7B74F78953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6b4a977eb46a9"/>
          <a:stretch xmlns:a="http://schemas.openxmlformats.org/drawingml/2006/main"/>
        </p:blipFill>
        <p:spPr>
          <a:xfrm xmlns:a="http://schemas.openxmlformats.org/drawingml/2006/main">
            <a:off x="2524125" y="2667000"/>
            <a:ext cx="1524000" cy="15240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E21EE-9B7F-400B-B2E6-CB03344B84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16e12c6714242"/>
          <a:stretch xmlns:a="http://schemas.openxmlformats.org/drawingml/2006/main"/>
        </p:blipFill>
        <p:spPr>
          <a:xfrm xmlns:a="http://schemas.openxmlformats.org/drawingml/2006/main">
            <a:off x="8096250" y="2667000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0BD22-5633-4682-8289-A3B8B519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09925"/>
            <a:ext cx="9525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68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AED45-4944-4798-9556-6046BD15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148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2550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2550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2550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2550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2550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2550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2550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2550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2550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InsightIQ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8E52A-ABAB-446E-A6E3-28335598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148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868C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2550" b="1">
                <a:solidFill>
                  <a:srgbClr val="1868C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2550" b="1">
                <a:solidFill>
                  <a:srgbClr val="1868C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2550" b="1">
                <a:solidFill>
                  <a:srgbClr val="1868C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2550" b="1">
                <a:solidFill>
                  <a:srgbClr val="1868C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2550" b="1">
                <a:solidFill>
                  <a:srgbClr val="1868C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2550" b="1">
                <a:solidFill>
                  <a:srgbClr val="1868C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2550" b="1">
                <a:solidFill>
                  <a:srgbClr val="1868C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2550" b="1">
                <a:solidFill>
                  <a:srgbClr val="1868C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2550" b="1">
                <a:solidFill>
                  <a:srgbClr val="1868C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868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68C8"/>
                </a:solidFill>
                <a:latin typeface="Helvetica Neue"/>
                <a:ea typeface="Helvetica Neue"/>
                <a:cs typeface="Helvetica Neue"/>
              </a:rPr>
              <a:t>Lead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AD96D-B5AA-4ABC-813D-6F173CAE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67350"/>
            <a:ext cx="10877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225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225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225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225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225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225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225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225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225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Industry feedback shaped a connected workflow: discover leads, manage relationships, and prepare with evidence.</a:t>
            </a:r>
          </a:p>
        </p:txBody>
      </p:sp>
    </p:spTree>
    <p:extLst>
      <p:ext uri="{BB962C8B-B14F-4D97-AF65-F5344CB8AC3E}">
        <p14:creationId xmlns:p14="http://schemas.microsoft.com/office/powerpoint/2010/main" val="553039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D7BA4-68E8-48C9-B115-A5FC322D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173B75"/>
                </a:solidFill>
              </a:defRPr>
            </a:defPPr>
            <a:lvl1pPr>
              <a:defRPr>
                <a:solidFill>
                  <a:srgbClr val="173B75"/>
                </a:solidFill>
              </a:defRPr>
            </a:lvl1pPr>
            <a:lvl2pPr>
              <a:defRPr>
                <a:solidFill>
                  <a:srgbClr val="173B75"/>
                </a:solidFill>
              </a:defRPr>
            </a:lvl2pPr>
            <a:lvl3pPr>
              <a:defRPr>
                <a:solidFill>
                  <a:srgbClr val="173B75"/>
                </a:solidFill>
              </a:defRPr>
            </a:lvl3pPr>
            <a:lvl4pPr>
              <a:defRPr>
                <a:solidFill>
                  <a:srgbClr val="173B75"/>
                </a:solidFill>
              </a:defRPr>
            </a:lvl4pPr>
            <a:lvl5pPr>
              <a:defRPr>
                <a:solidFill>
                  <a:srgbClr val="173B75"/>
                </a:solidFill>
              </a:defRPr>
            </a:lvl5pPr>
            <a:lvl6pPr>
              <a:defRPr>
                <a:solidFill>
                  <a:srgbClr val="173B75"/>
                </a:solidFill>
              </a:defRPr>
            </a:lvl6pPr>
            <a:lvl7pPr>
              <a:defRPr>
                <a:solidFill>
                  <a:srgbClr val="173B75"/>
                </a:solidFill>
              </a:defRPr>
            </a:lvl7pPr>
            <a:lvl8pPr>
              <a:defRPr>
                <a:solidFill>
                  <a:srgbClr val="173B75"/>
                </a:solidFill>
              </a:defRPr>
            </a:lvl8pPr>
            <a:lvl9pPr>
              <a:defRPr>
                <a:solidFill>
                  <a:srgbClr val="173B75"/>
                </a:solidFill>
              </a:defRPr>
            </a:lvl9pPr>
          </a:lstStyle>
          <a:p xmlns:a="http://schemas.openxmlformats.org/drawingml/2006/main">
            <a:pPr>
              <a:buNone/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A connected sales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243F6-F365-49C0-8E77-66243CF6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66900"/>
            <a:ext cx="474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1768C7"/>
                </a:solidFill>
              </a:defRPr>
            </a:defPPr>
            <a:lvl1pPr>
              <a:defRPr>
                <a:solidFill>
                  <a:srgbClr val="1768C7"/>
                </a:solidFill>
              </a:defRPr>
            </a:lvl1pPr>
            <a:lvl2pPr>
              <a:defRPr>
                <a:solidFill>
                  <a:srgbClr val="1768C7"/>
                </a:solidFill>
              </a:defRPr>
            </a:lvl2pPr>
            <a:lvl3pPr>
              <a:defRPr>
                <a:solidFill>
                  <a:srgbClr val="1768C7"/>
                </a:solidFill>
              </a:defRPr>
            </a:lvl3pPr>
            <a:lvl4pPr>
              <a:defRPr>
                <a:solidFill>
                  <a:srgbClr val="1768C7"/>
                </a:solidFill>
              </a:defRPr>
            </a:lvl4pPr>
            <a:lvl5pPr>
              <a:defRPr>
                <a:solidFill>
                  <a:srgbClr val="1768C7"/>
                </a:solidFill>
              </a:defRPr>
            </a:lvl5pPr>
            <a:lvl6pPr>
              <a:defRPr>
                <a:solidFill>
                  <a:srgbClr val="1768C7"/>
                </a:solidFill>
              </a:defRPr>
            </a:lvl6pPr>
            <a:lvl7pPr>
              <a:defRPr>
                <a:solidFill>
                  <a:srgbClr val="1768C7"/>
                </a:solidFill>
              </a:defRPr>
            </a:lvl7pPr>
            <a:lvl8pPr>
              <a:defRPr>
                <a:solidFill>
                  <a:srgbClr val="1768C7"/>
                </a:solidFill>
              </a:defRPr>
            </a:lvl8pPr>
            <a:lvl9pPr>
              <a:defRPr>
                <a:solidFill>
                  <a:srgbClr val="1768C7"/>
                </a:solidFill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63D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For people who sell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6C3A6-A0FA-44A0-B50C-E2BD6D48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90800"/>
            <a:ext cx="47625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173B75"/>
                </a:solidFill>
              </a:defRPr>
            </a:defPPr>
            <a:lvl1pPr>
              <a:defRPr>
                <a:solidFill>
                  <a:srgbClr val="173B75"/>
                </a:solidFill>
              </a:defRPr>
            </a:lvl1pPr>
            <a:lvl2pPr>
              <a:defRPr>
                <a:solidFill>
                  <a:srgbClr val="173B75"/>
                </a:solidFill>
              </a:defRPr>
            </a:lvl2pPr>
            <a:lvl3pPr>
              <a:defRPr>
                <a:solidFill>
                  <a:srgbClr val="173B75"/>
                </a:solidFill>
              </a:defRPr>
            </a:lvl3pPr>
            <a:lvl4pPr>
              <a:defRPr>
                <a:solidFill>
                  <a:srgbClr val="173B75"/>
                </a:solidFill>
              </a:defRPr>
            </a:lvl4pPr>
            <a:lvl5pPr>
              <a:defRPr>
                <a:solidFill>
                  <a:srgbClr val="173B75"/>
                </a:solidFill>
              </a:defRPr>
            </a:lvl5pPr>
            <a:lvl6pPr>
              <a:defRPr>
                <a:solidFill>
                  <a:srgbClr val="173B75"/>
                </a:solidFill>
              </a:defRPr>
            </a:lvl6pPr>
            <a:lvl7pPr>
              <a:defRPr>
                <a:solidFill>
                  <a:srgbClr val="173B75"/>
                </a:solidFill>
              </a:defRPr>
            </a:lvl7pPr>
            <a:lvl8pPr>
              <a:defRPr>
                <a:solidFill>
                  <a:srgbClr val="173B75"/>
                </a:solidFill>
              </a:defRPr>
            </a:lvl8pPr>
            <a:lvl9pPr>
              <a:defRPr>
                <a:solidFill>
                  <a:srgbClr val="173B75"/>
                </a:solidFill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B2B sales teams</a:t>
            </a:r>
          </a:p>
          <a:p xmlns:a="http://schemas.openxmlformats.org/drawingml/2006/main">
            <a:pPr>
              <a:buNone/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Agencies pitching clients</a:t>
            </a:r>
          </a:p>
          <a:p xmlns:a="http://schemas.openxmlformats.org/drawingml/2006/main">
            <a:pPr>
              <a:buNone/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Founders finding customers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AE6E6-C662-4637-8138-3EBC08F2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669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1768C7"/>
                </a:solidFill>
              </a:defRPr>
            </a:defPPr>
            <a:lvl1pPr>
              <a:defRPr>
                <a:solidFill>
                  <a:srgbClr val="1768C7"/>
                </a:solidFill>
              </a:defRPr>
            </a:lvl1pPr>
            <a:lvl2pPr>
              <a:defRPr>
                <a:solidFill>
                  <a:srgbClr val="1768C7"/>
                </a:solidFill>
              </a:defRPr>
            </a:lvl2pPr>
            <a:lvl3pPr>
              <a:defRPr>
                <a:solidFill>
                  <a:srgbClr val="1768C7"/>
                </a:solidFill>
              </a:defRPr>
            </a:lvl3pPr>
            <a:lvl4pPr>
              <a:defRPr>
                <a:solidFill>
                  <a:srgbClr val="1768C7"/>
                </a:solidFill>
              </a:defRPr>
            </a:lvl4pPr>
            <a:lvl5pPr>
              <a:defRPr>
                <a:solidFill>
                  <a:srgbClr val="1768C7"/>
                </a:solidFill>
              </a:defRPr>
            </a:lvl5pPr>
            <a:lvl6pPr>
              <a:defRPr>
                <a:solidFill>
                  <a:srgbClr val="1768C7"/>
                </a:solidFill>
              </a:defRPr>
            </a:lvl6pPr>
            <a:lvl7pPr>
              <a:defRPr>
                <a:solidFill>
                  <a:srgbClr val="1768C7"/>
                </a:solidFill>
              </a:defRPr>
            </a:lvl7pPr>
            <a:lvl8pPr>
              <a:defRPr>
                <a:solidFill>
                  <a:srgbClr val="1768C7"/>
                </a:solidFill>
              </a:defRPr>
            </a:lvl8pPr>
            <a:lvl9pPr>
              <a:defRPr>
                <a:solidFill>
                  <a:srgbClr val="1768C7"/>
                </a:solidFill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63D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Questions the workspace answers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53819-FFAA-43A4-A358-F536BC71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51435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173B75"/>
                </a:solidFill>
              </a:defRPr>
            </a:defPPr>
            <a:lvl1pPr>
              <a:defRPr>
                <a:solidFill>
                  <a:srgbClr val="173B75"/>
                </a:solidFill>
              </a:defRPr>
            </a:lvl1pPr>
            <a:lvl2pPr>
              <a:defRPr>
                <a:solidFill>
                  <a:srgbClr val="173B75"/>
                </a:solidFill>
              </a:defRPr>
            </a:lvl2pPr>
            <a:lvl3pPr>
              <a:defRPr>
                <a:solidFill>
                  <a:srgbClr val="173B75"/>
                </a:solidFill>
              </a:defRPr>
            </a:lvl3pPr>
            <a:lvl4pPr>
              <a:defRPr>
                <a:solidFill>
                  <a:srgbClr val="173B75"/>
                </a:solidFill>
              </a:defRPr>
            </a:lvl4pPr>
            <a:lvl5pPr>
              <a:defRPr>
                <a:solidFill>
                  <a:srgbClr val="173B75"/>
                </a:solidFill>
              </a:defRPr>
            </a:lvl5pPr>
            <a:lvl6pPr>
              <a:defRPr>
                <a:solidFill>
                  <a:srgbClr val="173B75"/>
                </a:solidFill>
              </a:defRPr>
            </a:lvl6pPr>
            <a:lvl7pPr>
              <a:defRPr>
                <a:solidFill>
                  <a:srgbClr val="173B75"/>
                </a:solidFill>
              </a:defRPr>
            </a:lvl7pPr>
            <a:lvl8pPr>
              <a:defRPr>
                <a:solidFill>
                  <a:srgbClr val="173B75"/>
                </a:solidFill>
              </a:defRPr>
            </a:lvl8pPr>
            <a:lvl9pPr>
              <a:defRPr>
                <a:solidFill>
                  <a:srgbClr val="173B75"/>
                </a:solidFill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Who fits our buyer profile?</a:t>
            </a:r>
          </a:p>
          <a:p xmlns:a="http://schemas.openxmlformats.org/drawingml/2006/main">
            <a:pPr>
              <a:buNone/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What should happen next?</a:t>
            </a:r>
          </a:p>
          <a:p xmlns:a="http://schemas.openxmlformats.org/drawingml/2006/main">
            <a:pPr>
              <a:buNone/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Which evidence supports the brief?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98C74-91A6-4A30-B5C8-2BD21D6A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67325"/>
            <a:ext cx="10896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173B75"/>
                </a:solidFill>
              </a:defRPr>
            </a:defPPr>
            <a:lvl1pPr>
              <a:defRPr>
                <a:solidFill>
                  <a:srgbClr val="173B75"/>
                </a:solidFill>
              </a:defRPr>
            </a:lvl1pPr>
            <a:lvl2pPr>
              <a:defRPr>
                <a:solidFill>
                  <a:srgbClr val="173B75"/>
                </a:solidFill>
              </a:defRPr>
            </a:lvl2pPr>
            <a:lvl3pPr>
              <a:defRPr>
                <a:solidFill>
                  <a:srgbClr val="173B75"/>
                </a:solidFill>
              </a:defRPr>
            </a:lvl3pPr>
            <a:lvl4pPr>
              <a:defRPr>
                <a:solidFill>
                  <a:srgbClr val="173B75"/>
                </a:solidFill>
              </a:defRPr>
            </a:lvl4pPr>
            <a:lvl5pPr>
              <a:defRPr>
                <a:solidFill>
                  <a:srgbClr val="173B75"/>
                </a:solidFill>
              </a:defRPr>
            </a:lvl5pPr>
            <a:lvl6pPr>
              <a:defRPr>
                <a:solidFill>
                  <a:srgbClr val="173B75"/>
                </a:solidFill>
              </a:defRPr>
            </a:lvl6pPr>
            <a:lvl7pPr>
              <a:defRPr>
                <a:solidFill>
                  <a:srgbClr val="173B75"/>
                </a:solidFill>
              </a:defRPr>
            </a:lvl7pPr>
            <a:lvl8pPr>
              <a:defRPr>
                <a:solidFill>
                  <a:srgbClr val="173B75"/>
                </a:solidFill>
              </a:defRPr>
            </a:lvl8pPr>
            <a:lvl9pPr>
              <a:defRPr>
                <a:solidFill>
                  <a:srgbClr val="173B75"/>
                </a:solidFill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Keep discovery, CRM, and preparation connected.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43C3C-7F7E-4BD6-A80E-D95EFC98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05500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1768C7"/>
                </a:solidFill>
              </a:defRPr>
            </a:defPPr>
            <a:lvl1pPr>
              <a:defRPr>
                <a:solidFill>
                  <a:srgbClr val="1768C7"/>
                </a:solidFill>
              </a:defRPr>
            </a:lvl1pPr>
            <a:lvl2pPr>
              <a:defRPr>
                <a:solidFill>
                  <a:srgbClr val="1768C7"/>
                </a:solidFill>
              </a:defRPr>
            </a:lvl2pPr>
            <a:lvl3pPr>
              <a:defRPr>
                <a:solidFill>
                  <a:srgbClr val="1768C7"/>
                </a:solidFill>
              </a:defRPr>
            </a:lvl3pPr>
            <a:lvl4pPr>
              <a:defRPr>
                <a:solidFill>
                  <a:srgbClr val="1768C7"/>
                </a:solidFill>
              </a:defRPr>
            </a:lvl4pPr>
            <a:lvl5pPr>
              <a:defRPr>
                <a:solidFill>
                  <a:srgbClr val="1768C7"/>
                </a:solidFill>
              </a:defRPr>
            </a:lvl5pPr>
            <a:lvl6pPr>
              <a:defRPr>
                <a:solidFill>
                  <a:srgbClr val="1768C7"/>
                </a:solidFill>
              </a:defRPr>
            </a:lvl6pPr>
            <a:lvl7pPr>
              <a:defRPr>
                <a:solidFill>
                  <a:srgbClr val="1768C7"/>
                </a:solidFill>
              </a:defRPr>
            </a:lvl7pPr>
            <a:lvl8pPr>
              <a:defRPr>
                <a:solidFill>
                  <a:srgbClr val="1768C7"/>
                </a:solidFill>
              </a:defRPr>
            </a:lvl8pPr>
            <a:lvl9pPr>
              <a:defRPr>
                <a:solidFill>
                  <a:srgbClr val="1768C7"/>
                </a:solidFill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63D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Source quotes support review. Follow-ups keep the next action visible.</a:t>
            </a:r>
          </a:p>
        </p:txBody>
      </p:sp>
    </p:spTree>
    <p:extLst>
      <p:ext uri="{BB962C8B-B14F-4D97-AF65-F5344CB8AC3E}">
        <p14:creationId xmlns:p14="http://schemas.microsoft.com/office/powerpoint/2010/main" val="308508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A7CD5-AE24-457D-8835-636D3532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33425"/>
            <a:ext cx="5000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Find leads</a:t>
            </a:r>
          </a:p>
          <a:p xmlns:a="http://schemas.openxmlformats.org/drawingml/2006/main">
            <a:pPr>
              <a:buNone/>
              <a:defRPr sz="39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with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5DDAC-5FD2-45AA-9A4B-0F2FC99D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rPr>
              <a:t>Start with a buyer profile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FE550-10A4-48A0-B1D6-EAF2E7AA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44386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rPr>
              <a:t>Search companies, then people.</a:t>
            </a:r>
          </a:p>
          <a:p xmlns:a="http://schemas.openxmlformats.org/drawingml/2006/main">
            <a:pPr>
              <a:buNone/>
              <a:defRPr sz="21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rPr>
              <a:t>Check role, industry, and</a:t>
            </a:r>
          </a:p>
          <a:p xmlns:a="http://schemas.openxmlformats.org/drawingml/2006/main">
            <a:pPr>
              <a:buNone/>
              <a:defRPr sz="21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rPr>
              <a:t>location evidence before saving.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B0C77-8B67-426F-B8E6-FCEF16A63E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5b240c50c459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476875" y="1657350"/>
            <a:ext cx="619125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9ECBC-C4EA-470F-9450-6D48B870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657850"/>
            <a:ext cx="5953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33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3363"/>
                </a:solidFill>
                <a:latin typeface="Helvetica Neue"/>
                <a:ea typeface="Helvetica Neue"/>
                <a:cs typeface="Helvetica Neue"/>
              </a:rPr>
              <a:t>Search, full-page reads, and site crawls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57EDA-26E0-4874-9FBA-6B3A1350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15050"/>
            <a:ext cx="5953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33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3363"/>
                </a:solidFill>
                <a:latin typeface="Helvetica Neue"/>
                <a:ea typeface="Helvetica Neue"/>
                <a:cs typeface="Helvetica Neue"/>
              </a:rPr>
              <a:t>GLEIF · Wikidata · SEC EDGAR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31DB7-8DB1-4C89-8AC3-E2F4B8FC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5722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12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12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12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12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12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12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12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12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12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rPr>
              <a:t>Fictional demonstration workspace</a:t>
            </a:r>
          </a:p>
        </p:txBody>
      </p:sp>
    </p:spTree>
    <p:extLst>
      <p:ext uri="{BB962C8B-B14F-4D97-AF65-F5344CB8AC3E}">
        <p14:creationId xmlns:p14="http://schemas.microsoft.com/office/powerpoint/2010/main" val="774352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Lead Trace">
            <a:extLst xmlns:a="http://schemas.openxmlformats.org/drawingml/2006/main">
              <a:ext uri="{FF2B5EF4-FFF2-40B4-BE49-F238E27FC236}">
                <a16:creationId xmlns:a16="http://schemas.microsoft.com/office/drawing/2014/main" id="{CEB41EEA-0588-44CC-BA0F-65FB3F57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Lead Trace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2DB45-990A-4E83-854F-C6C956B461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85cb48bd9418d">
            <a:extLst>
              <a:ext uri="{96DAC541-7B7A-43D3-8B79-37D633B846F1}">
                <asvg:svgBlip xmlns:asvg="http://schemas.microsoft.com/office/drawing/2016/SVG/main" r:embed="Redc05686965447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10900" y="2667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Discovery to the next sales action">
            <a:extLst xmlns:a="http://schemas.openxmlformats.org/drawingml/2006/main">
              <a:ext uri="{FF2B5EF4-FFF2-40B4-BE49-F238E27FC236}">
                <a16:creationId xmlns:a16="http://schemas.microsoft.com/office/drawing/2014/main" id="{56FC5BEE-9C0A-4FF0-9476-0511ECEB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Discovery to the next sales action</a:t>
            </a:r>
          </a:p>
        </p:txBody>
      </p:sp>
      <p:sp>
        <p:nvSpPr>
          <p:cNvPr id="4" name="From buyer profile to the next action, with source evid">
            <a:extLst xmlns:a="http://schemas.openxmlformats.org/drawingml/2006/main">
              <a:ext uri="{FF2B5EF4-FFF2-40B4-BE49-F238E27FC236}">
                <a16:creationId xmlns:a16="http://schemas.microsoft.com/office/drawing/2014/main" id="{A1B136D1-FEB4-41B8-A492-AAD376E0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rPr>
              <a:t>From buyer profile to the next action, with source evidence attached</a:t>
            </a:r>
          </a:p>
        </p:txBody>
      </p:sp>
      <p:cxnSp>
        <p:nvCxnSpPr>
          <p:cNvPr id="5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4BD4B128-656C-46D3-92D5-91BA497DA5FF}"/>
              </a:ext>
            </a:extLst>
          </p:cNvPr>
          <p:cNvCxnSpPr/>
          <p:nvPr/>
        </p:nvCxnSpPr>
        <p:spPr>
          <a:xfrm xmlns:a="http://schemas.openxmlformats.org/drawingml/2006/main">
            <a:off x="2533650" y="35528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  <a:tailEnd type="triangle" w="med" len="med"/>
          </a:ln>
        </p:spPr>
      </p:cxnSp>
      <p:cxnSp>
        <p:nvCxnSpPr>
          <p:cNvPr id="6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BBDD0C3A-8978-43D6-9952-95A7131FE30D}"/>
              </a:ext>
            </a:extLst>
          </p:cNvPr>
          <p:cNvCxnSpPr/>
          <p:nvPr/>
        </p:nvCxnSpPr>
        <p:spPr>
          <a:xfrm xmlns:a="http://schemas.openxmlformats.org/drawingml/2006/main">
            <a:off x="4800600" y="35528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  <a:tailEnd type="triangle" w="med" len="med"/>
          </a:ln>
        </p:spPr>
      </p:cxnSp>
      <p:cxnSp>
        <p:nvCxnSpPr>
          <p:cNvPr id="7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9B4AC95B-4D89-4C7B-B224-251B466A91FB}"/>
              </a:ext>
            </a:extLst>
          </p:cNvPr>
          <p:cNvCxnSpPr/>
          <p:nvPr/>
        </p:nvCxnSpPr>
        <p:spPr>
          <a:xfrm xmlns:a="http://schemas.openxmlformats.org/drawingml/2006/main">
            <a:off x="7067550" y="35528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  <a:tailEnd type="triangle" w="med" len="med"/>
          </a:ln>
        </p:spPr>
      </p:cxnSp>
      <p:cxnSp>
        <p:nvCxnSpPr>
          <p:cNvPr id="8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EA69BABF-636E-4E12-8F41-AF0497C0555C}"/>
              </a:ext>
            </a:extLst>
          </p:cNvPr>
          <p:cNvCxnSpPr/>
          <p:nvPr/>
        </p:nvCxnSpPr>
        <p:spPr>
          <a:xfrm xmlns:a="http://schemas.openxmlformats.org/drawingml/2006/main">
            <a:off x="9334500" y="35528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  <a:tailEnd type="triangle" w="med" len="med"/>
          </a:ln>
        </p:spPr>
      </p:cxnSp>
      <p:sp>
        <p:nvSpPr>
          <p:cNvPr id="9" name="01  Discover rectangle">
            <a:extLst xmlns:a="http://schemas.openxmlformats.org/drawingml/2006/main">
              <a:ext uri="{FF2B5EF4-FFF2-40B4-BE49-F238E27FC236}">
                <a16:creationId xmlns:a16="http://schemas.microsoft.com/office/drawing/2014/main" id="{45B02A51-B835-4384-ABF4-47D00CB1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9240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4DAF5"/>
            </a:solidFill>
          </a:ln>
        </p:spPr>
      </p:sp>
      <p:sp>
        <p:nvSpPr>
          <p:cNvPr id="10" name="01  Discover">
            <a:extLst xmlns:a="http://schemas.openxmlformats.org/drawingml/2006/main">
              <a:ext uri="{FF2B5EF4-FFF2-40B4-BE49-F238E27FC236}">
                <a16:creationId xmlns:a16="http://schemas.microsoft.com/office/drawing/2014/main" id="{1566BC91-271A-41DD-B7DE-EA8B662B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01  Discover</a:t>
            </a:r>
          </a:p>
        </p:txBody>
      </p:sp>
      <p:sp>
        <p:nvSpPr>
          <p:cNvPr id="11" name="Buyer profile&#10;and sourced&#10;companies">
            <a:extLst xmlns:a="http://schemas.openxmlformats.org/drawingml/2006/main">
              <a:ext uri="{FF2B5EF4-FFF2-40B4-BE49-F238E27FC236}">
                <a16:creationId xmlns:a16="http://schemas.microsoft.com/office/drawing/2014/main" id="{4AFFC8CE-A615-4472-9985-A7D1603C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581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Buyer profile</a:t>
            </a:r>
          </a:p>
          <a:p xmlns:a="http://schemas.openxmlformats.org/drawingml/2006/main">
            <a: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and sourced</a:t>
            </a:r>
          </a:p>
          <a:p xmlns:a="http://schemas.openxmlformats.org/drawingml/2006/main">
            <a: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companies</a:t>
            </a:r>
          </a:p>
        </p:txBody>
      </p:sp>
      <p:sp>
        <p:nvSpPr>
          <p:cNvPr id="12" name="02  Review rectangle">
            <a:extLst xmlns:a="http://schemas.openxmlformats.org/drawingml/2006/main">
              <a:ext uri="{FF2B5EF4-FFF2-40B4-BE49-F238E27FC236}">
                <a16:creationId xmlns:a16="http://schemas.microsoft.com/office/drawing/2014/main" id="{96EF3F3F-128E-4DC1-816E-4A6BA0AA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67000"/>
            <a:ext cx="19240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4DAF5"/>
            </a:solidFill>
          </a:ln>
        </p:spPr>
      </p:sp>
      <p:sp>
        <p:nvSpPr>
          <p:cNvPr id="13" name="02  Review">
            <a:extLst xmlns:a="http://schemas.openxmlformats.org/drawingml/2006/main">
              <a:ext uri="{FF2B5EF4-FFF2-40B4-BE49-F238E27FC236}">
                <a16:creationId xmlns:a16="http://schemas.microsoft.com/office/drawing/2014/main" id="{79148DB8-D59F-4818-BB17-5017C466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035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02  Review</a:t>
            </a:r>
          </a:p>
        </p:txBody>
      </p:sp>
      <p:sp>
        <p:nvSpPr>
          <p:cNvPr id="14" name="Current role,&#10;buyer-fit evidence,&#10;and qualification">
            <a:extLst xmlns:a="http://schemas.openxmlformats.org/drawingml/2006/main">
              <a:ext uri="{FF2B5EF4-FFF2-40B4-BE49-F238E27FC236}">
                <a16:creationId xmlns:a16="http://schemas.microsoft.com/office/drawing/2014/main" id="{67308318-C0AB-46D7-909F-D1ABC0A8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1581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Current role,</a:t>
            </a:r>
          </a:p>
          <a:p xmlns:a="http://schemas.openxmlformats.org/drawingml/2006/main">
            <a: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buyer-fit evidence,</a:t>
            </a:r>
          </a:p>
          <a:p xmlns:a="http://schemas.openxmlformats.org/drawingml/2006/main">
            <a: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and qualification</a:t>
            </a:r>
          </a:p>
        </p:txBody>
      </p:sp>
      <p:sp>
        <p:nvSpPr>
          <p:cNvPr id="15" name="03  Save rectangle">
            <a:extLst xmlns:a="http://schemas.openxmlformats.org/drawingml/2006/main">
              <a:ext uri="{FF2B5EF4-FFF2-40B4-BE49-F238E27FC236}">
                <a16:creationId xmlns:a16="http://schemas.microsoft.com/office/drawing/2014/main" id="{78C850B9-06F5-40E9-B593-ADA9FEEF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19240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4DAF5"/>
            </a:solidFill>
          </a:ln>
        </p:spPr>
      </p:sp>
      <p:sp>
        <p:nvSpPr>
          <p:cNvPr id="16" name="03  Save">
            <a:extLst xmlns:a="http://schemas.openxmlformats.org/drawingml/2006/main">
              <a:ext uri="{FF2B5EF4-FFF2-40B4-BE49-F238E27FC236}">
                <a16:creationId xmlns:a16="http://schemas.microsoft.com/office/drawing/2014/main" id="{A27E69E8-B90A-4E0A-A97D-EF28BD7F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035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03  Save</a:t>
            </a:r>
          </a:p>
        </p:txBody>
      </p:sp>
      <p:sp>
        <p:nvSpPr>
          <p:cNvPr id="17" name="Reviewed lead&#10;becomes a&#10;CRM contact">
            <a:extLst xmlns:a="http://schemas.openxmlformats.org/drawingml/2006/main">
              <a:ext uri="{FF2B5EF4-FFF2-40B4-BE49-F238E27FC236}">
                <a16:creationId xmlns:a16="http://schemas.microsoft.com/office/drawing/2014/main" id="{6F75A8F8-EC81-4D70-BBB8-9299DD88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81350"/>
            <a:ext cx="1581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Reviewed lead</a:t>
            </a:r>
          </a:p>
          <a:p xmlns:a="http://schemas.openxmlformats.org/drawingml/2006/main">
            <a: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becomes a</a:t>
            </a:r>
          </a:p>
          <a:p xmlns:a="http://schemas.openxmlformats.org/drawingml/2006/main">
            <a: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CRM contact</a:t>
            </a:r>
          </a:p>
        </p:txBody>
      </p:sp>
      <p:sp>
        <p:nvSpPr>
          <p:cNvPr id="18" name="04  Prepare rectangle">
            <a:extLst xmlns:a="http://schemas.openxmlformats.org/drawingml/2006/main">
              <a:ext uri="{FF2B5EF4-FFF2-40B4-BE49-F238E27FC236}">
                <a16:creationId xmlns:a16="http://schemas.microsoft.com/office/drawing/2014/main" id="{AF66CAA4-5EBC-4847-BCAA-3B7A1E98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67000"/>
            <a:ext cx="19240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4DAF5"/>
            </a:solidFill>
          </a:ln>
        </p:spPr>
      </p:sp>
      <p:sp>
        <p:nvSpPr>
          <p:cNvPr id="19" name="04  Prepare">
            <a:extLst xmlns:a="http://schemas.openxmlformats.org/drawingml/2006/main">
              <a:ext uri="{FF2B5EF4-FFF2-40B4-BE49-F238E27FC236}">
                <a16:creationId xmlns:a16="http://schemas.microsoft.com/office/drawing/2014/main" id="{DD4FFA72-A6B3-446C-99C6-B5ACED0F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0035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04  Prepare</a:t>
            </a:r>
          </a:p>
        </p:txBody>
      </p:sp>
      <p:sp>
        <p:nvSpPr>
          <p:cNvPr id="20" name="Offer context&#10;and a cited&#10;conversation brief">
            <a:extLst xmlns:a="http://schemas.openxmlformats.org/drawingml/2006/main">
              <a:ext uri="{FF2B5EF4-FFF2-40B4-BE49-F238E27FC236}">
                <a16:creationId xmlns:a16="http://schemas.microsoft.com/office/drawing/2014/main" id="{07357A8B-A5CC-4E76-B35B-DA88722E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81350"/>
            <a:ext cx="1581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Offer context</a:t>
            </a:r>
          </a:p>
          <a:p xmlns:a="http://schemas.openxmlformats.org/drawingml/2006/main">
            <a: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and a cited</a:t>
            </a:r>
          </a:p>
          <a:p xmlns:a="http://schemas.openxmlformats.org/drawingml/2006/main">
            <a: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conversation brief</a:t>
            </a:r>
          </a:p>
        </p:txBody>
      </p:sp>
      <p:sp>
        <p:nvSpPr>
          <p:cNvPr id="21" name="05  Act rectangle">
            <a:extLst xmlns:a="http://schemas.openxmlformats.org/drawingml/2006/main">
              <a:ext uri="{FF2B5EF4-FFF2-40B4-BE49-F238E27FC236}">
                <a16:creationId xmlns:a16="http://schemas.microsoft.com/office/drawing/2014/main" id="{12AB3395-DFC4-4E24-A429-6081035B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67000"/>
            <a:ext cx="19240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4DAF5"/>
            </a:solidFill>
          </a:ln>
        </p:spPr>
      </p:sp>
      <p:sp>
        <p:nvSpPr>
          <p:cNvPr id="22" name="05  Act">
            <a:extLst xmlns:a="http://schemas.openxmlformats.org/drawingml/2006/main">
              <a:ext uri="{FF2B5EF4-FFF2-40B4-BE49-F238E27FC236}">
                <a16:creationId xmlns:a16="http://schemas.microsoft.com/office/drawing/2014/main" id="{E7A101BE-58D3-4BEA-A574-EBC38597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0035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05  Act</a:t>
            </a:r>
          </a:p>
        </p:txBody>
      </p:sp>
      <p:sp>
        <p:nvSpPr>
          <p:cNvPr id="23" name="Deal, note,&#10;follow-up, or&#10;Calendar meeting">
            <a:extLst xmlns:a="http://schemas.openxmlformats.org/drawingml/2006/main">
              <a:ext uri="{FF2B5EF4-FFF2-40B4-BE49-F238E27FC236}">
                <a16:creationId xmlns:a16="http://schemas.microsoft.com/office/drawing/2014/main" id="{1ADC177E-A693-42B4-A324-B93220FD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81350"/>
            <a:ext cx="1581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Deal, note,</a:t>
            </a:r>
          </a:p>
          <a:p xmlns:a="http://schemas.openxmlformats.org/drawingml/2006/main">
            <a: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follow-up, or</a:t>
            </a:r>
          </a:p>
          <a:p xmlns:a="http://schemas.openxmlformats.org/drawingml/2006/main">
            <a:pPr>
              <a:def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Calendar meeting</a:t>
            </a:r>
          </a:p>
        </p:txBody>
      </p:sp>
      <p:sp>
        <p:nvSpPr>
          <p:cNvPr id="24" name="Evidence stays attached when a reviewed lead becomes a ">
            <a:extLst xmlns:a="http://schemas.openxmlformats.org/drawingml/2006/main">
              <a:ext uri="{FF2B5EF4-FFF2-40B4-BE49-F238E27FC236}">
                <a16:creationId xmlns:a16="http://schemas.microsoft.com/office/drawing/2014/main" id="{D692037F-D349-48A1-BE6C-F1662F6A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Evidence stays attached when a reviewed lead becomes a CRM contact.</a:t>
            </a:r>
          </a:p>
        </p:txBody>
      </p:sp>
      <p:sp>
        <p:nvSpPr>
          <p:cNvPr id="25" name="leadtrace.online">
            <a:extLst xmlns:a="http://schemas.openxmlformats.org/drawingml/2006/main">
              <a:ext uri="{FF2B5EF4-FFF2-40B4-BE49-F238E27FC236}">
                <a16:creationId xmlns:a16="http://schemas.microsoft.com/office/drawing/2014/main" id="{9D304CC4-E835-42A3-94A6-79193894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rPr>
              <a:t>leadtrace.online</a:t>
            </a:r>
          </a:p>
        </p:txBody>
      </p:sp>
    </p:spTree>
    <p:extLst>
      <p:ext uri="{BB962C8B-B14F-4D97-AF65-F5344CB8AC3E}">
        <p14:creationId xmlns:p14="http://schemas.microsoft.com/office/powerpoint/2010/main" val="1064318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1C953-25D8-4A72-94D9-7FA81C39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CRM built around the next action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6E2AB-47D7-4572-84BE-388B9B18AE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c69a56459434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42925" y="1666875"/>
            <a:ext cx="7991475" cy="4495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B3D26-960D-4EE6-9561-80539284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619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rPr>
              <a:t>Contact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BDED9-B7B0-4396-8DB1-3AEC4104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2619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233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23363"/>
                </a:solidFill>
                <a:latin typeface="Helvetica Neue"/>
                <a:ea typeface="Helvetica Neue"/>
                <a:cs typeface="Helvetica Neue"/>
              </a:rPr>
              <a:t>Keep ownership, notes, and research with the person.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5551F-3E43-4BDB-8B00-99CE6415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38525"/>
            <a:ext cx="2619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rPr>
              <a:t>Deal tracking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8ED9A-9505-482C-9495-930128A2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62400"/>
            <a:ext cx="2619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233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23363"/>
                </a:solidFill>
                <a:latin typeface="Helvetica Neue"/>
                <a:ea typeface="Helvetica Neue"/>
                <a:cs typeface="Helvetica Neue"/>
              </a:rPr>
              <a:t>Track stage, value, currency, and expected close.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5E354-F539-4A0C-A96E-733686BC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29225"/>
            <a:ext cx="2619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rPr>
              <a:t>Next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49976-896E-48F3-8FF4-10B5E115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62625"/>
            <a:ext cx="2619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233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23363"/>
                </a:solidFill>
                <a:latin typeface="Helvetica Neue"/>
                <a:ea typeface="Helvetica Neue"/>
                <a:cs typeface="Helvetica Neue"/>
              </a:rPr>
              <a:t>Set a follow-up or schedule a meeting.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0F5DB-5D77-47D1-A93F-4E17D3AB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4579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13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13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13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13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13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13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13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13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13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rPr>
              <a:t>Fictional demonstration data</a:t>
            </a:r>
          </a:p>
        </p:txBody>
      </p:sp>
    </p:spTree>
    <p:extLst>
      <p:ext uri="{BB962C8B-B14F-4D97-AF65-F5344CB8AC3E}">
        <p14:creationId xmlns:p14="http://schemas.microsoft.com/office/powerpoint/2010/main" val="3816282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71B2A-79F5-4A80-8C79-37EFD91E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Pipeline and follow-ups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F3253-BEA8-4D6C-93A1-F45F9319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rPr>
              <a:t>Track the opportunity and the next action in the same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D1B55-8B69-45CA-A375-DBB0F4E8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14550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rPr>
              <a:t>Board and Table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F4984-F9EF-4D52-A05D-6FAA9CC1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rPr>
              <a:t>Due today, overdue, or upcoming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380D7-E8DD-4B1B-8144-A9A9BA7F55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8aabeb9c94118"/>
          <a:stretch xmlns:a="http://schemas.openxmlformats.org/drawingml/2006/main"/>
        </p:blipFill>
        <p:spPr>
          <a:xfrm xmlns:a="http://schemas.openxmlformats.org/drawingml/2006/main">
            <a:off x="907256" y="2714625"/>
            <a:ext cx="4643438" cy="30956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10317-C620-4E9D-AACA-95168BE394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403cce8c24c54"/>
          <a:stretch xmlns:a="http://schemas.openxmlformats.org/drawingml/2006/main"/>
        </p:blipFill>
        <p:spPr>
          <a:xfrm xmlns:a="http://schemas.openxmlformats.org/drawingml/2006/main">
            <a:off x="6565106" y="2714625"/>
            <a:ext cx="4643438" cy="3095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E228C-4F90-428D-9217-B0CEA0A5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436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180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180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180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180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180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180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180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180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180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Deal stages, ownership, and value remain visible. Completed follow-ups can be reopened.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2124F-0A76-4A04-B853-7A74BB93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477000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12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12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12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12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12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12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12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12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12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rPr>
              <a:t>Fictional demonstration data. Follow-ups are tracked actions; automatic reminders are not implemented.</a:t>
            </a:r>
          </a:p>
        </p:txBody>
      </p:sp>
    </p:spTree>
    <p:extLst>
      <p:ext uri="{BB962C8B-B14F-4D97-AF65-F5344CB8AC3E}">
        <p14:creationId xmlns:p14="http://schemas.microsoft.com/office/powerpoint/2010/main" val="619894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1C47D-CEA3-474E-A0A2-80768375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"/>
            <a:ext cx="1114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8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Cited research for the next conversation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AF001-7B72-4C69-9E5B-2FD4EBEC9F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d7d2b794b4d9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04825" y="1657350"/>
            <a:ext cx="7591425" cy="42005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65A8C-22FB-4D55-9E22-3C4C793A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0497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rPr>
              <a:t>Inspect the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1E0BD-D389-4AC8-BC91-4C8003E1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47925"/>
            <a:ext cx="31527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233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23363"/>
                </a:solidFill>
                <a:latin typeface="Helvetica Neue"/>
                <a:ea typeface="Helvetica Neue"/>
                <a:cs typeface="Helvetica Neue"/>
              </a:rPr>
              <a:t>Each key signal links to its stored claim and source URL.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A85CC-DC6B-49E1-9DC9-04E9C598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100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rPr>
              <a:t>Review and reuse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D6593-7AB4-469B-8F0D-CD556D11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3143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233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23363"/>
                </a:solidFill>
                <a:latin typeface="Helvetica Neue"/>
                <a:ea typeface="Helvetica Neue"/>
                <a:cs typeface="Helvetica Neue"/>
              </a:rPr>
              <a:t>Check gaps, adapt the outreach draft, then copy or export.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76CFB-D60A-4ADE-9133-988383E9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81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rPr>
              <a:t>Fictional demo data. A source claim, a hypothesis, and a question stay distinct.</a:t>
            </a:r>
          </a:p>
        </p:txBody>
      </p:sp>
    </p:spTree>
    <p:extLst>
      <p:ext uri="{BB962C8B-B14F-4D97-AF65-F5344CB8AC3E}">
        <p14:creationId xmlns:p14="http://schemas.microsoft.com/office/powerpoint/2010/main" val="9803444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Lead Trace">
            <a:extLst xmlns:a="http://schemas.openxmlformats.org/drawingml/2006/main">
              <a:ext uri="{FF2B5EF4-FFF2-40B4-BE49-F238E27FC236}">
                <a16:creationId xmlns:a16="http://schemas.microsoft.com/office/drawing/2014/main" id="{9FA4187F-49B5-4450-91C3-095E0730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Lead Trace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24609-DAC0-4C8E-82E1-86EA1C71CB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65fa51c184523">
            <a:extLst>
              <a:ext uri="{96DAC541-7B7A-43D3-8B79-37D633B846F1}">
                <asvg:svgBlip xmlns:asvg="http://schemas.microsoft.com/office/drawing/2016/SVG/main" r:embed="Rb16025ae2c8346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10900" y="2667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3" name="Lead Trace architecture">
            <a:extLst xmlns:a="http://schemas.openxmlformats.org/drawingml/2006/main">
              <a:ext uri="{FF2B5EF4-FFF2-40B4-BE49-F238E27FC236}">
                <a16:creationId xmlns:a16="http://schemas.microsoft.com/office/drawing/2014/main" id="{969901D4-1DBB-4947-BBC3-A35813FD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Lead Trace architecture</a:t>
            </a:r>
          </a:p>
        </p:txBody>
      </p:sp>
      <p:sp>
        <p:nvSpPr>
          <p:cNvPr id="4" name="Discovery and CRM in the API; research in a separate ba">
            <a:extLst xmlns:a="http://schemas.openxmlformats.org/drawingml/2006/main">
              <a:ext uri="{FF2B5EF4-FFF2-40B4-BE49-F238E27FC236}">
                <a16:creationId xmlns:a16="http://schemas.microsoft.com/office/drawing/2014/main" id="{D91C9557-2CEB-4212-941A-2ED7D35B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rPr>
              <a:t>Discovery and CRM in the API; research in a separate background worker</a:t>
            </a:r>
          </a:p>
        </p:txBody>
      </p:sp>
      <p:cxnSp>
        <p:nvCxnSpPr>
          <p:cNvPr id="5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14E90E5F-728E-40E6-ACA5-69AEFD38B0C6}"/>
              </a:ext>
            </a:extLst>
          </p:cNvPr>
          <p:cNvCxnSpPr/>
          <p:nvPr/>
        </p:nvCxnSpPr>
        <p:spPr>
          <a:xfrm xmlns:a="http://schemas.openxmlformats.org/drawingml/2006/main">
            <a:off x="3009900" y="3000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  <a:tailEnd type="triangle" w="med" len="med"/>
          </a:ln>
        </p:spPr>
      </p:cxnSp>
      <p:cxnSp>
        <p:nvCxnSpPr>
          <p:cNvPr id="6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E6558594-F76A-4375-A4CC-E8F72EAC36CD}"/>
              </a:ext>
            </a:extLst>
          </p:cNvPr>
          <p:cNvCxnSpPr/>
          <p:nvPr/>
        </p:nvCxnSpPr>
        <p:spPr>
          <a:xfrm xmlns:a="http://schemas.openxmlformats.org/drawingml/2006/main">
            <a:off x="5867400" y="3000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  <a:tailEnd type="triangle" w="med" len="med"/>
          </a:ln>
        </p:spPr>
      </p:cxnSp>
      <p:cxnSp>
        <p:nvCxnSpPr>
          <p:cNvPr id="7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124CE001-EDBA-4A77-825B-9E1653D7520B}"/>
              </a:ext>
            </a:extLst>
          </p:cNvPr>
          <p:cNvCxnSpPr/>
          <p:nvPr/>
        </p:nvCxnSpPr>
        <p:spPr>
          <a:xfrm xmlns:a="http://schemas.openxmlformats.org/drawingml/2006/main">
            <a:off x="8724900" y="3000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  <a:tailEnd type="triangle" w="med" len="med"/>
          </a:ln>
        </p:spPr>
      </p:cxnSp>
      <p:cxnSp>
        <p:nvCxnSpPr>
          <p:cNvPr id="8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C5BA7315-4B75-4234-8F70-A02FB99E1472}"/>
              </a:ext>
            </a:extLst>
          </p:cNvPr>
          <p:cNvCxnSpPr/>
          <p:nvPr/>
        </p:nvCxnSpPr>
        <p:spPr>
          <a:xfrm xmlns:a="http://schemas.openxmlformats.org/drawingml/2006/main">
            <a:off x="4667250" y="366712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  <a:tailEnd type="triangle" w="med" len="med"/>
          </a:ln>
        </p:spPr>
      </p:cxnSp>
      <p:cxnSp>
        <p:nvCxnSpPr>
          <p:cNvPr id="9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AF3D3FCD-CF92-40A1-A90F-3DE6B7C70A72}"/>
              </a:ext>
            </a:extLst>
          </p:cNvPr>
          <p:cNvCxnSpPr/>
          <p:nvPr/>
        </p:nvCxnSpPr>
        <p:spPr>
          <a:xfrm xmlns:a="http://schemas.openxmlformats.org/drawingml/2006/main">
            <a:off x="5238750" y="36671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</a:ln>
        </p:spPr>
      </p:cxnSp>
      <p:cxnSp>
        <p:nvCxnSpPr>
          <p:cNvPr id="10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E353304F-B522-4AFD-83FF-9350C4082529}"/>
              </a:ext>
            </a:extLst>
          </p:cNvPr>
          <p:cNvCxnSpPr/>
          <p:nvPr/>
        </p:nvCxnSpPr>
        <p:spPr>
          <a:xfrm xmlns:a="http://schemas.openxmlformats.org/drawingml/2006/main">
            <a:off x="5238750" y="419100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</a:ln>
        </p:spPr>
      </p:cxnSp>
      <p:cxnSp>
        <p:nvCxnSpPr>
          <p:cNvPr id="11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E3E20CE5-7F22-4A24-98DF-6758481CA1DE}"/>
              </a:ext>
            </a:extLst>
          </p:cNvPr>
          <p:cNvCxnSpPr/>
          <p:nvPr/>
        </p:nvCxnSpPr>
        <p:spPr>
          <a:xfrm xmlns:a="http://schemas.openxmlformats.org/drawingml/2006/main">
            <a:off x="7524750" y="41910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  <a:tailEnd type="triangle" w="med" len="med"/>
          </a:ln>
        </p:spPr>
      </p:cxnSp>
      <p:cxnSp>
        <p:nvCxnSpPr>
          <p:cNvPr id="12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64375664-D30E-45F1-85B6-A679716E4A00}"/>
              </a:ext>
            </a:extLst>
          </p:cNvPr>
          <p:cNvCxnSpPr/>
          <p:nvPr/>
        </p:nvCxnSpPr>
        <p:spPr>
          <a:xfrm xmlns:a="http://schemas.openxmlformats.org/drawingml/2006/main">
            <a:off x="5619750" y="3667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</a:ln>
        </p:spPr>
      </p:cxnSp>
      <p:cxnSp>
        <p:nvCxnSpPr>
          <p:cNvPr id="13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5C4769B4-DA5A-4DA2-883D-73E81DE14B2A}"/>
              </a:ext>
            </a:extLst>
          </p:cNvPr>
          <p:cNvCxnSpPr/>
          <p:nvPr/>
        </p:nvCxnSpPr>
        <p:spPr>
          <a:xfrm xmlns:a="http://schemas.openxmlformats.org/drawingml/2006/main">
            <a:off x="5619750" y="3952875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</a:ln>
        </p:spPr>
      </p:cxnSp>
      <p:cxnSp>
        <p:nvCxnSpPr>
          <p:cNvPr id="14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1129A719-F6A0-4216-8D1A-16C27CD8A836}"/>
              </a:ext>
            </a:extLst>
          </p:cNvPr>
          <p:cNvCxnSpPr/>
          <p:nvPr/>
        </p:nvCxnSpPr>
        <p:spPr>
          <a:xfrm xmlns:a="http://schemas.openxmlformats.org/drawingml/2006/main">
            <a:off x="8953500" y="3952875"/>
            <a:ext cx="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</a:ln>
        </p:spPr>
      </p:cxnSp>
      <p:cxnSp>
        <p:nvCxnSpPr>
          <p:cNvPr id="15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F57EC5D2-B41D-4973-AE7C-0DAE27AF89DC}"/>
              </a:ext>
            </a:extLst>
          </p:cNvPr>
          <p:cNvCxnSpPr/>
          <p:nvPr/>
        </p:nvCxnSpPr>
        <p:spPr>
          <a:xfrm xmlns:a="http://schemas.openxmlformats.org/drawingml/2006/main">
            <a:off x="8953500" y="52101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  <a:tailEnd type="triangle" w="med" len="med"/>
          </a:ln>
        </p:spPr>
      </p:cxnSp>
      <p:cxnSp>
        <p:nvCxnSpPr>
          <p:cNvPr id="16" name="Blue process arrow">
            <a:extLst xmlns:a="http://schemas.openxmlformats.org/drawingml/2006/main">
              <a:ext uri="{FF2B5EF4-FFF2-40B4-BE49-F238E27FC236}">
                <a16:creationId xmlns:a16="http://schemas.microsoft.com/office/drawing/2014/main" id="{17FA439D-D0A2-47FC-BBED-4A9FC0123CD8}"/>
              </a:ext>
            </a:extLst>
          </p:cNvPr>
          <p:cNvCxnSpPr/>
          <p:nvPr/>
        </p:nvCxnSpPr>
        <p:spPr>
          <a:xfrm xmlns:a="http://schemas.openxmlformats.org/drawingml/2006/main">
            <a:off x="10382250" y="366712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8C7"/>
            </a:solidFill>
            <a:tailEnd type="triangle" w="med" len="med"/>
          </a:ln>
        </p:spPr>
      </p:cxnSp>
      <p:sp>
        <p:nvSpPr>
          <p:cNvPr id="17" name="Web dashboard rectangle">
            <a:extLst xmlns:a="http://schemas.openxmlformats.org/drawingml/2006/main">
              <a:ext uri="{FF2B5EF4-FFF2-40B4-BE49-F238E27FC236}">
                <a16:creationId xmlns:a16="http://schemas.microsoft.com/office/drawing/2014/main" id="{357C094C-3321-43BC-91E0-D87C5647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4003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4DAF5"/>
            </a:solidFill>
          </a:ln>
        </p:spPr>
      </p:sp>
      <p:sp>
        <p:nvSpPr>
          <p:cNvPr id="18" name="Web dashboard">
            <a:extLst xmlns:a="http://schemas.openxmlformats.org/drawingml/2006/main">
              <a:ext uri="{FF2B5EF4-FFF2-40B4-BE49-F238E27FC236}">
                <a16:creationId xmlns:a16="http://schemas.microsoft.com/office/drawing/2014/main" id="{6E00019A-AB0D-4149-A87F-838BEA0B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66975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Web dashboard</a:t>
            </a:r>
          </a:p>
        </p:txBody>
      </p:sp>
      <p:sp>
        <p:nvSpPr>
          <p:cNvPr id="19" name="Next.js&#10;Cloudflare / OpenNext">
            <a:extLst xmlns:a="http://schemas.openxmlformats.org/drawingml/2006/main">
              <a:ext uri="{FF2B5EF4-FFF2-40B4-BE49-F238E27FC236}">
                <a16:creationId xmlns:a16="http://schemas.microsoft.com/office/drawing/2014/main" id="{262A8D40-1CCE-4416-8090-43BB8249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47975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Next.js</a:t>
            </a:r>
          </a:p>
          <a:p xmlns:a="http://schemas.openxmlformats.org/drawingml/2006/main">
            <a: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Cloudflare / OpenNext</a:t>
            </a:r>
          </a:p>
        </p:txBody>
      </p:sp>
      <p:sp>
        <p:nvSpPr>
          <p:cNvPr id="20" name="API and accounts rectangle">
            <a:extLst xmlns:a="http://schemas.openxmlformats.org/drawingml/2006/main">
              <a:ext uri="{FF2B5EF4-FFF2-40B4-BE49-F238E27FC236}">
                <a16:creationId xmlns:a16="http://schemas.microsoft.com/office/drawing/2014/main" id="{F99B880D-8C62-4423-A24F-5410D836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33625"/>
            <a:ext cx="24003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4DAF5"/>
            </a:solidFill>
          </a:ln>
        </p:spPr>
      </p:sp>
      <p:sp>
        <p:nvSpPr>
          <p:cNvPr id="21" name="API and accounts">
            <a:extLst xmlns:a="http://schemas.openxmlformats.org/drawingml/2006/main">
              <a:ext uri="{FF2B5EF4-FFF2-40B4-BE49-F238E27FC236}">
                <a16:creationId xmlns:a16="http://schemas.microsoft.com/office/drawing/2014/main" id="{F0A15AB2-8461-4033-980B-56A859AC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66975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API and accounts</a:t>
            </a:r>
          </a:p>
        </p:txBody>
      </p:sp>
      <p:sp>
        <p:nvSpPr>
          <p:cNvPr id="22" name="NestJS · Better Auth&#10;CRM + lead jobs">
            <a:extLst xmlns:a="http://schemas.openxmlformats.org/drawingml/2006/main">
              <a:ext uri="{FF2B5EF4-FFF2-40B4-BE49-F238E27FC236}">
                <a16:creationId xmlns:a16="http://schemas.microsoft.com/office/drawing/2014/main" id="{560D39D4-D43C-4519-9F3B-731D610B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47975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NestJS · Better Auth</a:t>
            </a:r>
          </a:p>
          <a:p xmlns:a="http://schemas.openxmlformats.org/drawingml/2006/main">
            <a: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CRM + lead jobs</a:t>
            </a:r>
          </a:p>
        </p:txBody>
      </p:sp>
      <p:sp>
        <p:nvSpPr>
          <p:cNvPr id="23" name="Data and jobs rectangle">
            <a:extLst xmlns:a="http://schemas.openxmlformats.org/drawingml/2006/main">
              <a:ext uri="{FF2B5EF4-FFF2-40B4-BE49-F238E27FC236}">
                <a16:creationId xmlns:a16="http://schemas.microsoft.com/office/drawing/2014/main" id="{5360F29F-5827-4324-BA29-F0FBB981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33625"/>
            <a:ext cx="24003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4DAF5"/>
            </a:solidFill>
          </a:ln>
        </p:spPr>
      </p:sp>
      <p:sp>
        <p:nvSpPr>
          <p:cNvPr id="24" name="Data and jobs">
            <a:extLst xmlns:a="http://schemas.openxmlformats.org/drawingml/2006/main">
              <a:ext uri="{FF2B5EF4-FFF2-40B4-BE49-F238E27FC236}">
                <a16:creationId xmlns:a16="http://schemas.microsoft.com/office/drawing/2014/main" id="{253A1F6A-1595-403A-8F6F-DB318D30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6975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Data and jobs</a:t>
            </a:r>
          </a:p>
        </p:txBody>
      </p:sp>
      <p:sp>
        <p:nvSpPr>
          <p:cNvPr id="25" name="PostgreSQL&#10;Prisma · job leases">
            <a:extLst xmlns:a="http://schemas.openxmlformats.org/drawingml/2006/main">
              <a:ext uri="{FF2B5EF4-FFF2-40B4-BE49-F238E27FC236}">
                <a16:creationId xmlns:a16="http://schemas.microsoft.com/office/drawing/2014/main" id="{BC5778BE-784D-4D47-BE69-0DEDF7D2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47975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  <a:p xmlns:a="http://schemas.openxmlformats.org/drawingml/2006/main">
            <a: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Prisma · job leases</a:t>
            </a:r>
          </a:p>
        </p:txBody>
      </p:sp>
      <p:sp>
        <p:nvSpPr>
          <p:cNvPr id="26" name="Research worker rectangle">
            <a:extLst xmlns:a="http://schemas.openxmlformats.org/drawingml/2006/main">
              <a:ext uri="{FF2B5EF4-FFF2-40B4-BE49-F238E27FC236}">
                <a16:creationId xmlns:a16="http://schemas.microsoft.com/office/drawing/2014/main" id="{72973421-28A2-40C4-A2F7-A5311BA2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33625"/>
            <a:ext cx="24003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4DAF5"/>
            </a:solidFill>
          </a:ln>
        </p:spPr>
      </p:sp>
      <p:sp>
        <p:nvSpPr>
          <p:cNvPr id="27" name="Research worker">
            <a:extLst xmlns:a="http://schemas.openxmlformats.org/drawingml/2006/main">
              <a:ext uri="{FF2B5EF4-FFF2-40B4-BE49-F238E27FC236}">
                <a16:creationId xmlns:a16="http://schemas.microsoft.com/office/drawing/2014/main" id="{6B44CED0-30F3-478B-A4FF-D563D51F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66975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Research worker</a:t>
            </a:r>
          </a:p>
        </p:txBody>
      </p:sp>
      <p:sp>
        <p:nvSpPr>
          <p:cNvPr id="28" name="Python&#10;LangGraph">
            <a:extLst xmlns:a="http://schemas.openxmlformats.org/drawingml/2006/main">
              <a:ext uri="{FF2B5EF4-FFF2-40B4-BE49-F238E27FC236}">
                <a16:creationId xmlns:a16="http://schemas.microsoft.com/office/drawing/2014/main" id="{0C563E3A-F7CA-4CDD-863E-8AE4A311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47975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Python</a:t>
            </a:r>
          </a:p>
          <a:p xmlns:a="http://schemas.openxmlformats.org/drawingml/2006/main">
            <a: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LangGraph</a:t>
            </a:r>
          </a:p>
        </p:txBody>
      </p:sp>
      <p:sp>
        <p:nvSpPr>
          <p:cNvPr id="29" name="Public discovery and company registries rectangle">
            <a:extLst xmlns:a="http://schemas.openxmlformats.org/drawingml/2006/main">
              <a:ext uri="{FF2B5EF4-FFF2-40B4-BE49-F238E27FC236}">
                <a16:creationId xmlns:a16="http://schemas.microsoft.com/office/drawing/2014/main" id="{2E49CA40-B9FD-41F3-B973-4CEBA4CA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2578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4DAF5"/>
            </a:solidFill>
          </a:ln>
        </p:spPr>
      </p:sp>
      <p:sp>
        <p:nvSpPr>
          <p:cNvPr id="30" name="Public discovery and company registries">
            <a:extLst xmlns:a="http://schemas.openxmlformats.org/drawingml/2006/main">
              <a:ext uri="{FF2B5EF4-FFF2-40B4-BE49-F238E27FC236}">
                <a16:creationId xmlns:a16="http://schemas.microsoft.com/office/drawing/2014/main" id="{8F3FB977-33C3-47AD-8564-3AE83AFF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4914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Public discovery and company registries</a:t>
            </a:r>
          </a:p>
        </p:txBody>
      </p:sp>
      <p:sp>
        <p:nvSpPr>
          <p:cNvPr id="31" name="Tavily Search · Extract · Crawl&#10;GLEIF · Wikidata · SEC ">
            <a:extLst xmlns:a="http://schemas.openxmlformats.org/drawingml/2006/main">
              <a:ext uri="{FF2B5EF4-FFF2-40B4-BE49-F238E27FC236}">
                <a16:creationId xmlns:a16="http://schemas.microsoft.com/office/drawing/2014/main" id="{D240407E-9EC2-40EC-8D6D-4549D9E4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38725"/>
            <a:ext cx="4914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Tavily Search · Extract · Crawl</a:t>
            </a:r>
          </a:p>
          <a:p xmlns:a="http://schemas.openxmlformats.org/drawingml/2006/main">
            <a: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GLEIF · Wikidata · SEC EDGAR</a:t>
            </a:r>
          </a:p>
        </p:txBody>
      </p:sp>
      <p:sp>
        <p:nvSpPr>
          <p:cNvPr id="32" name="Optional integration rectangle">
            <a:extLst xmlns:a="http://schemas.openxmlformats.org/drawingml/2006/main">
              <a:ext uri="{FF2B5EF4-FFF2-40B4-BE49-F238E27FC236}">
                <a16:creationId xmlns:a16="http://schemas.microsoft.com/office/drawing/2014/main" id="{97FCC947-163E-410E-85C4-3004C3E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24375"/>
            <a:ext cx="24003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4DAF5"/>
            </a:solidFill>
          </a:ln>
        </p:spPr>
      </p:sp>
      <p:sp>
        <p:nvSpPr>
          <p:cNvPr id="33" name="Optional integration">
            <a:extLst xmlns:a="http://schemas.openxmlformats.org/drawingml/2006/main">
              <a:ext uri="{FF2B5EF4-FFF2-40B4-BE49-F238E27FC236}">
                <a16:creationId xmlns:a16="http://schemas.microsoft.com/office/drawing/2014/main" id="{352B2958-B78A-46BB-96ED-90425480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57725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Optional integration</a:t>
            </a:r>
          </a:p>
        </p:txBody>
      </p:sp>
      <p:sp>
        <p:nvSpPr>
          <p:cNvPr id="34" name="Google Calendar&#10;OAuth · meetings">
            <a:extLst xmlns:a="http://schemas.openxmlformats.org/drawingml/2006/main">
              <a:ext uri="{FF2B5EF4-FFF2-40B4-BE49-F238E27FC236}">
                <a16:creationId xmlns:a16="http://schemas.microsoft.com/office/drawing/2014/main" id="{B2BF2ABC-25C3-4386-BF10-968840DB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38725"/>
            <a:ext cx="205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Google Calendar</a:t>
            </a:r>
          </a:p>
          <a:p xmlns:a="http://schemas.openxmlformats.org/drawingml/2006/main">
            <a: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OAuth · meetings</a:t>
            </a:r>
          </a:p>
        </p:txBody>
      </p:sp>
      <p:sp>
        <p:nvSpPr>
          <p:cNvPr id="35" name="AI inference rectangle">
            <a:extLst xmlns:a="http://schemas.openxmlformats.org/drawingml/2006/main">
              <a:ext uri="{FF2B5EF4-FFF2-40B4-BE49-F238E27FC236}">
                <a16:creationId xmlns:a16="http://schemas.microsoft.com/office/drawing/2014/main" id="{BE2F3073-723B-49D0-8F8B-61D216AF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24375"/>
            <a:ext cx="24003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4DAF5"/>
            </a:solidFill>
          </a:ln>
        </p:spPr>
      </p:sp>
      <p:sp>
        <p:nvSpPr>
          <p:cNvPr id="36" name="AI inference">
            <a:extLst xmlns:a="http://schemas.openxmlformats.org/drawingml/2006/main">
              <a:ext uri="{FF2B5EF4-FFF2-40B4-BE49-F238E27FC236}">
                <a16:creationId xmlns:a16="http://schemas.microsoft.com/office/drawing/2014/main" id="{E90E784C-9E19-43CC-9B08-F2FC5531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57725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AI inference</a:t>
            </a:r>
          </a:p>
        </p:txBody>
      </p:sp>
      <p:sp>
        <p:nvSpPr>
          <p:cNvPr id="37" name="Qwen / DashScope&#10;Qualification + briefs">
            <a:extLst xmlns:a="http://schemas.openxmlformats.org/drawingml/2006/main">
              <a:ext uri="{FF2B5EF4-FFF2-40B4-BE49-F238E27FC236}">
                <a16:creationId xmlns:a16="http://schemas.microsoft.com/office/drawing/2014/main" id="{61D3BC15-F588-4C4E-9F3D-A1BC4226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38725"/>
            <a:ext cx="205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Qwen / DashScope</a:t>
            </a:r>
          </a:p>
          <a:p xmlns:a="http://schemas.openxmlformats.org/drawingml/2006/main">
            <a:pPr>
              <a:def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Qualification + briefs</a:t>
            </a:r>
          </a:p>
        </p:txBody>
      </p:sp>
      <p:sp>
        <p:nvSpPr>
          <p:cNvPr id="38" name="The API and research worker share source evidence and t">
            <a:extLst xmlns:a="http://schemas.openxmlformats.org/drawingml/2006/main">
              <a:ext uri="{FF2B5EF4-FFF2-40B4-BE49-F238E27FC236}">
                <a16:creationId xmlns:a16="http://schemas.microsoft.com/office/drawing/2014/main" id="{5AAD94F6-5994-49E6-9A9B-9DFE6BA1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rPr>
              <a:t>The API and research worker share source evidence and the configured model provider.</a:t>
            </a:r>
          </a:p>
        </p:txBody>
      </p:sp>
      <p:sp>
        <p:nvSpPr>
          <p:cNvPr id="39" name="leadtrace.online">
            <a:extLst xmlns:a="http://schemas.openxmlformats.org/drawingml/2006/main">
              <a:ext uri="{FF2B5EF4-FFF2-40B4-BE49-F238E27FC236}">
                <a16:creationId xmlns:a16="http://schemas.microsoft.com/office/drawing/2014/main" id="{7C3E0BBB-5215-416B-B05D-CF5F6EAA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DA3"/>
                </a:solidFill>
                <a:latin typeface="Helvetica Neue"/>
                <a:ea typeface="Helvetica Neue"/>
                <a:cs typeface="Helvetica Neue"/>
              </a:rPr>
              <a:t>leadtrace.online</a:t>
            </a:r>
          </a:p>
        </p:txBody>
      </p:sp>
    </p:spTree>
    <p:extLst>
      <p:ext uri="{BB962C8B-B14F-4D97-AF65-F5344CB8AC3E}">
        <p14:creationId xmlns:p14="http://schemas.microsoft.com/office/powerpoint/2010/main" val="11131056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DDBD7-3F7F-4365-9F9D-44BE90EB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Meetings and follow-ups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269FE-8176-4386-BD8B-F8FE764A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rPr>
              <a:t>Optional Google Calendar scheduling, with explicit invitation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AF7F8-E98B-44A3-AB97-9763F85D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860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rPr>
              <a:t>Connect your own Calendar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8BB97-742A-43A5-9D30-8A06F468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00375"/>
            <a:ext cx="4476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Create an event from a contact.</a:t>
            </a:r>
          </a:p>
          <a:p xmlns:a="http://schemas.openxmlformats.org/drawingml/2006/main">
            <a: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Choose whether to invite the contact.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You can track a follow-up</a:t>
            </a:r>
          </a:p>
          <a:p xmlns:a="http://schemas.openxmlformats.org/drawingml/2006/main">
            <a: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without connecting Calendar.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D7CF8-5BC7-4D87-A89F-F4F22E95F6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790d31f224eaf"/>
          <a:stretch xmlns:a="http://schemas.openxmlformats.org/drawingml/2006/main"/>
        </p:blipFill>
        <p:spPr>
          <a:xfrm xmlns:a="http://schemas.openxmlformats.org/drawingml/2006/main">
            <a:off x="5495925" y="2238375"/>
            <a:ext cx="600075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A2A06-E9DC-4609-BC9D-38007D71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9127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142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142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142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142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142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142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142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142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142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rPr>
              <a:t>Account authorization is required. Invitations are opt-in; two-way Calendar sync remains planned.</a:t>
            </a:r>
          </a:p>
        </p:txBody>
      </p:sp>
    </p:spTree>
    <p:extLst>
      <p:ext uri="{BB962C8B-B14F-4D97-AF65-F5344CB8AC3E}">
        <p14:creationId xmlns:p14="http://schemas.microsoft.com/office/powerpoint/2010/main" val="15974254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1A2A3-6AE5-4723-A189-086C9F0B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Live validation and next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CF33D-D8DB-4A10-8BF5-4D0FEB5C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rPr>
              <a:t>What has been demonstrated, and what remains ahead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4C190-8E6E-411E-8933-C98E84AF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288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rPr>
              <a:t>Live audit · 23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D3DC5-A66D-4AD5-8BBF-AEB991FF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24175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9 prospective buyers discovered</a:t>
            </a:r>
          </a:p>
          <a:p xmlns:a="http://schemas.openxmlformats.org/drawingml/2006/main">
            <a: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1 matched all sourced criteria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CRM save to a completed cited brief</a:t>
            </a:r>
          </a:p>
          <a:p xmlns:a="http://schemas.openxmlformats.org/drawingml/2006/main">
            <a: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11 research sources · 15 evidence items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D18A3-537F-4353-8183-2DA66E8D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2885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26FCE"/>
                </a:solidFill>
                <a:latin typeface="Helvetica Neue"/>
                <a:ea typeface="Helvetica Neue"/>
                <a:cs typeface="Helvetica Neue"/>
              </a:rPr>
              <a:t>Next priorities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73B61-05B1-4127-94DD-BB3796B5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24175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Shared company records</a:t>
            </a:r>
          </a:p>
          <a:p xmlns:a="http://schemas.openxmlformats.org/drawingml/2006/main">
            <a: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Contact merging</a:t>
            </a:r>
          </a:p>
          <a:p xmlns:a="http://schemas.openxmlformats.org/drawingml/2006/main">
            <a: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Recurring lead searches</a:t>
            </a:r>
          </a:p>
          <a:p xmlns:a="http://schemas.openxmlformats.org/drawingml/2006/main">
            <a: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Email integration</a:t>
            </a:r>
          </a:p>
          <a:p xmlns:a="http://schemas.openxmlformats.org/drawingml/2006/main">
            <a:pPr>
              <a:buNone/>
              <a:def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B214A"/>
                </a:solidFill>
                <a:latin typeface="Helvetica Neue"/>
                <a:ea typeface="Helvetica Neue"/>
                <a:cs typeface="Helvetica Neue"/>
              </a:rPr>
              <a:t>Two-way Calendar sync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EA47E-C88D-40D8-BC9E-6E036669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13410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15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15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15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15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15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15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15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15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15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718B"/>
                </a:solidFill>
                <a:latin typeface="Helvetica Neue"/>
                <a:ea typeface="Helvetica Neue"/>
                <a:cs typeface="Helvetica Neue"/>
              </a:rPr>
              <a:t>One live cohort, not a market-coverage benchmark. Buying intent and contact details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20361014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8D79A-7530-419F-A377-66D1C624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173B75"/>
                </a:solidFill>
              </a:defRPr>
            </a:defPPr>
            <a:lvl1pPr>
              <a:defRPr>
                <a:solidFill>
                  <a:srgbClr val="173B75"/>
                </a:solidFill>
              </a:defRPr>
            </a:lvl1pPr>
            <a:lvl2pPr>
              <a:defRPr>
                <a:solidFill>
                  <a:srgbClr val="173B75"/>
                </a:solidFill>
              </a:defRPr>
            </a:lvl2pPr>
            <a:lvl3pPr>
              <a:defRPr>
                <a:solidFill>
                  <a:srgbClr val="173B75"/>
                </a:solidFill>
              </a:defRPr>
            </a:lvl3pPr>
            <a:lvl4pPr>
              <a:defRPr>
                <a:solidFill>
                  <a:srgbClr val="173B75"/>
                </a:solidFill>
              </a:defRPr>
            </a:lvl4pPr>
            <a:lvl5pPr>
              <a:defRPr>
                <a:solidFill>
                  <a:srgbClr val="173B75"/>
                </a:solidFill>
              </a:defRPr>
            </a:lvl5pPr>
            <a:lvl6pPr>
              <a:defRPr>
                <a:solidFill>
                  <a:srgbClr val="173B75"/>
                </a:solidFill>
              </a:defRPr>
            </a:lvl6pPr>
            <a:lvl7pPr>
              <a:defRPr>
                <a:solidFill>
                  <a:srgbClr val="173B75"/>
                </a:solidFill>
              </a:defRPr>
            </a:lvl7pPr>
            <a:lvl8pPr>
              <a:defRPr>
                <a:solidFill>
                  <a:srgbClr val="173B75"/>
                </a:solidFill>
              </a:defRPr>
            </a:lvl8pPr>
            <a:lvl9pPr>
              <a:defRPr>
                <a:solidFill>
                  <a:srgbClr val="173B75"/>
                </a:solidFill>
              </a:defRPr>
            </a:lvl9pPr>
          </a:lstStyle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Lead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78014-F9F2-4E9A-B96B-44185B5E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38325"/>
            <a:ext cx="69532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173B75"/>
                </a:solidFill>
              </a:defRPr>
            </a:defPPr>
            <a:lvl1pPr>
              <a:defRPr>
                <a:solidFill>
                  <a:srgbClr val="173B75"/>
                </a:solidFill>
              </a:defRPr>
            </a:lvl1pPr>
            <a:lvl2pPr>
              <a:defRPr>
                <a:solidFill>
                  <a:srgbClr val="173B75"/>
                </a:solidFill>
              </a:defRPr>
            </a:lvl2pPr>
            <a:lvl3pPr>
              <a:defRPr>
                <a:solidFill>
                  <a:srgbClr val="173B75"/>
                </a:solidFill>
              </a:defRPr>
            </a:lvl3pPr>
            <a:lvl4pPr>
              <a:defRPr>
                <a:solidFill>
                  <a:srgbClr val="173B75"/>
                </a:solidFill>
              </a:defRPr>
            </a:lvl4pPr>
            <a:lvl5pPr>
              <a:defRPr>
                <a:solidFill>
                  <a:srgbClr val="173B75"/>
                </a:solidFill>
              </a:defRPr>
            </a:lvl5pPr>
            <a:lvl6pPr>
              <a:defRPr>
                <a:solidFill>
                  <a:srgbClr val="173B75"/>
                </a:solidFill>
              </a:defRPr>
            </a:lvl6pPr>
            <a:lvl7pPr>
              <a:defRPr>
                <a:solidFill>
                  <a:srgbClr val="173B75"/>
                </a:solidFill>
              </a:defRPr>
            </a:lvl7pPr>
            <a:lvl8pPr>
              <a:defRPr>
                <a:solidFill>
                  <a:srgbClr val="173B75"/>
                </a:solidFill>
              </a:defRPr>
            </a:lvl8pPr>
            <a:lvl9pPr>
              <a:defRPr>
                <a:solidFill>
                  <a:srgbClr val="173B75"/>
                </a:solidFill>
              </a:defRPr>
            </a:lvl9pPr>
          </a:lstStyle>
          <a:p xmlns:a="http://schemas.openxmlformats.org/drawingml/2006/main">
            <a:pPr>
              <a:buNone/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Find the lead.</a:t>
            </a:r>
          </a:p>
          <a:p xmlns:a="http://schemas.openxmlformats.org/drawingml/2006/main">
            <a:pPr>
              <a:buNone/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Know the context.</a:t>
            </a:r>
          </a:p>
          <a:p xmlns:a="http://schemas.openxmlformats.org/drawingml/2006/main">
            <a:pPr>
              <a:buNone/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Track the next step.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AFA7C-5D3E-4F14-B0BF-CF2AAD2C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526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1768C7"/>
                </a:solidFill>
              </a:defRPr>
            </a:defPPr>
            <a:lvl1pPr>
              <a:defRPr>
                <a:solidFill>
                  <a:srgbClr val="1768C7"/>
                </a:solidFill>
              </a:defRPr>
            </a:lvl1pPr>
            <a:lvl2pPr>
              <a:defRPr>
                <a:solidFill>
                  <a:srgbClr val="1768C7"/>
                </a:solidFill>
              </a:defRPr>
            </a:lvl2pPr>
            <a:lvl3pPr>
              <a:defRPr>
                <a:solidFill>
                  <a:srgbClr val="1768C7"/>
                </a:solidFill>
              </a:defRPr>
            </a:lvl3pPr>
            <a:lvl4pPr>
              <a:defRPr>
                <a:solidFill>
                  <a:srgbClr val="1768C7"/>
                </a:solidFill>
              </a:defRPr>
            </a:lvl4pPr>
            <a:lvl5pPr>
              <a:defRPr>
                <a:solidFill>
                  <a:srgbClr val="1768C7"/>
                </a:solidFill>
              </a:defRPr>
            </a:lvl5pPr>
            <a:lvl6pPr>
              <a:defRPr>
                <a:solidFill>
                  <a:srgbClr val="1768C7"/>
                </a:solidFill>
              </a:defRPr>
            </a:lvl6pPr>
            <a:lvl7pPr>
              <a:defRPr>
                <a:solidFill>
                  <a:srgbClr val="1768C7"/>
                </a:solidFill>
              </a:defRPr>
            </a:lvl7pPr>
            <a:lvl8pPr>
              <a:defRPr>
                <a:solidFill>
                  <a:srgbClr val="1768C7"/>
                </a:solidFill>
              </a:defRPr>
            </a:lvl8pPr>
            <a:lvl9pPr>
              <a:defRPr>
                <a:solidFill>
                  <a:srgbClr val="1768C7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63D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Built by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E31A6-09FC-448C-9D9C-CF33AAD9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38425"/>
            <a:ext cx="3514725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173B75"/>
                </a:solidFill>
              </a:defRPr>
            </a:defPPr>
            <a:lvl1pPr>
              <a:defRPr>
                <a:solidFill>
                  <a:srgbClr val="173B75"/>
                </a:solidFill>
              </a:defRPr>
            </a:lvl1pPr>
            <a:lvl2pPr>
              <a:defRPr>
                <a:solidFill>
                  <a:srgbClr val="173B75"/>
                </a:solidFill>
              </a:defRPr>
            </a:lvl2pPr>
            <a:lvl3pPr>
              <a:defRPr>
                <a:solidFill>
                  <a:srgbClr val="173B75"/>
                </a:solidFill>
              </a:defRPr>
            </a:lvl3pPr>
            <a:lvl4pPr>
              <a:defRPr>
                <a:solidFill>
                  <a:srgbClr val="173B75"/>
                </a:solidFill>
              </a:defRPr>
            </a:lvl4pPr>
            <a:lvl5pPr>
              <a:defRPr>
                <a:solidFill>
                  <a:srgbClr val="173B75"/>
                </a:solidFill>
              </a:defRPr>
            </a:lvl5pPr>
            <a:lvl6pPr>
              <a:defRPr>
                <a:solidFill>
                  <a:srgbClr val="173B75"/>
                </a:solidFill>
              </a:defRPr>
            </a:lvl6pPr>
            <a:lvl7pPr>
              <a:defRPr>
                <a:solidFill>
                  <a:srgbClr val="173B75"/>
                </a:solidFill>
              </a:defRPr>
            </a:lvl7pPr>
            <a:lvl8pPr>
              <a:defRPr>
                <a:solidFill>
                  <a:srgbClr val="173B75"/>
                </a:solidFill>
              </a:defRPr>
            </a:lvl8pPr>
            <a:lvl9pPr>
              <a:defRPr>
                <a:solidFill>
                  <a:srgbClr val="173B75"/>
                </a:solidFill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Afnan Ahmad Tariq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Danyal Rana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B75"/>
                </a:solidFill>
                <a:latin typeface="Helvetica Neue"/>
                <a:ea typeface="Helvetica Neue"/>
                <a:cs typeface="Helvetica Neue"/>
              </a:rPr>
              <a:t>Hassan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82CB8-921D-49FF-8971-6B58DC98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67400"/>
            <a:ext cx="1078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>
                <a:solidFill>
                  <a:srgbClr val="1768C7"/>
                </a:solidFill>
              </a:defRPr>
            </a:defPPr>
            <a:lvl1pPr>
              <a:defRPr>
                <a:solidFill>
                  <a:srgbClr val="1768C7"/>
                </a:solidFill>
              </a:defRPr>
            </a:lvl1pPr>
            <a:lvl2pPr>
              <a:defRPr>
                <a:solidFill>
                  <a:srgbClr val="1768C7"/>
                </a:solidFill>
              </a:defRPr>
            </a:lvl2pPr>
            <a:lvl3pPr>
              <a:defRPr>
                <a:solidFill>
                  <a:srgbClr val="1768C7"/>
                </a:solidFill>
              </a:defRPr>
            </a:lvl3pPr>
            <a:lvl4pPr>
              <a:defRPr>
                <a:solidFill>
                  <a:srgbClr val="1768C7"/>
                </a:solidFill>
              </a:defRPr>
            </a:lvl4pPr>
            <a:lvl5pPr>
              <a:defRPr>
                <a:solidFill>
                  <a:srgbClr val="1768C7"/>
                </a:solidFill>
              </a:defRPr>
            </a:lvl5pPr>
            <a:lvl6pPr>
              <a:defRPr>
                <a:solidFill>
                  <a:srgbClr val="1768C7"/>
                </a:solidFill>
              </a:defRPr>
            </a:lvl6pPr>
            <a:lvl7pPr>
              <a:defRPr>
                <a:solidFill>
                  <a:srgbClr val="1768C7"/>
                </a:solidFill>
              </a:defRPr>
            </a:lvl7pPr>
            <a:lvl8pPr>
              <a:defRPr>
                <a:solidFill>
                  <a:srgbClr val="1768C7"/>
                </a:solidFill>
              </a:defRPr>
            </a:lvl8pPr>
            <a:lvl9pPr>
              <a:defRPr>
                <a:solidFill>
                  <a:srgbClr val="1768C7"/>
                </a:solidFill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63D7F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68C7"/>
                </a:solidFill>
                <a:latin typeface="Helvetica Neue"/>
                <a:ea typeface="Helvetica Neue"/>
                <a:cs typeface="Helvetica Neue"/>
              </a:rPr>
              <a:t>leadtrace.online</a:t>
            </a:r>
          </a:p>
        </p:txBody>
      </p:sp>
    </p:spTree>
    <p:extLst>
      <p:ext uri="{BB962C8B-B14F-4D97-AF65-F5344CB8AC3E}">
        <p14:creationId xmlns:p14="http://schemas.microsoft.com/office/powerpoint/2010/main" val="450573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Lead Trace</dc:creator>
  <lastModifiedBy>Lead Trace</lastModifiedBy>
  <dc:title>Lead Trace - current product pitch</dc:title>
  <dcterms:created xsi:type="dcterms:W3CDTF">2026-10-24T02:52:37.6710000Z</dcterms:created>
  <dcterms:modified xsi:type="dcterms:W3CDTF">2026-10-24T02:52:37.6710000Z</dcterms:modified>
</coreProperties>
</file>