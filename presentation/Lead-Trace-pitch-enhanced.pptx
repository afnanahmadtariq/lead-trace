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03ed01b8fd422e" /><Relationship Type="http://schemas.openxmlformats.org/officeDocument/2006/relationships/extended-properties" Target="/docProps/app.xml" Id="R851050b4ce654e38" /><Relationship Type="http://schemas.openxmlformats.org/officeDocument/2006/relationships/officeDocument" Target="/ppt/presentation.xml" Id="Rbc210356965b44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ecfd622b0945c5"/>
  </p:sldMasterIdLst>
  <p:notesMasterIdLst>
    <p:notesMasterId xmlns:r="http://schemas.openxmlformats.org/officeDocument/2006/relationships" r:id="Rbd5f59f1022f45cc"/>
  </p:notesMasterIdLst>
  <p:sldIdLst>
    <p:sldId xmlns:r="http://schemas.openxmlformats.org/officeDocument/2006/relationships" id="256" r:id="R75654f25b6e44ded"/>
    <p:sldId xmlns:r="http://schemas.openxmlformats.org/officeDocument/2006/relationships" id="257" r:id="R455c4fc8e4da4773"/>
    <p:sldId xmlns:r="http://schemas.openxmlformats.org/officeDocument/2006/relationships" id="258" r:id="Rab1e7ba288e44390"/>
    <p:sldId xmlns:r="http://schemas.openxmlformats.org/officeDocument/2006/relationships" id="259" r:id="R156a08735f9b419c"/>
    <p:sldId xmlns:r="http://schemas.openxmlformats.org/officeDocument/2006/relationships" id="260" r:id="R97a56dd60f16475e"/>
    <p:sldId xmlns:r="http://schemas.openxmlformats.org/officeDocument/2006/relationships" id="261" r:id="R3aa7cde5534d4f59"/>
    <p:sldId xmlns:r="http://schemas.openxmlformats.org/officeDocument/2006/relationships" id="262" r:id="R6bf712163fc64698"/>
    <p:sldId xmlns:r="http://schemas.openxmlformats.org/officeDocument/2006/relationships" id="263" r:id="R29cf3f0fac38420a"/>
    <p:sldId xmlns:r="http://schemas.openxmlformats.org/officeDocument/2006/relationships" id="264" r:id="R2040d32c5724414a"/>
    <p:sldId xmlns:r="http://schemas.openxmlformats.org/officeDocument/2006/relationships" id="265" r:id="R1d85c420b9b44e73"/>
    <p:sldId xmlns:r="http://schemas.openxmlformats.org/officeDocument/2006/relationships" id="266" r:id="R8515417c972a4a4d"/>
    <p:sldId xmlns:r="http://schemas.openxmlformats.org/officeDocument/2006/relationships" id="267" r:id="R2eb4d2b9384840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7f55607ad9439d" /><Relationship Type="http://schemas.openxmlformats.org/officeDocument/2006/relationships/slideMaster" Target="/ppt/slideMasters/slideMaster1.xml" Id="Rfaecfd622b0945c5" /><Relationship Type="http://schemas.openxmlformats.org/officeDocument/2006/relationships/notesMaster" Target="/ppt/notesMasters/notesMaster1.xml" Id="Rbd5f59f1022f45cc" /><Relationship Type="http://schemas.openxmlformats.org/officeDocument/2006/relationships/presProps" Target="/ppt/presProps.xml" Id="Rfbd13ea49678472e" /><Relationship Type="http://schemas.openxmlformats.org/officeDocument/2006/relationships/tableStyles" Target="/ppt/tableStyles.xml" Id="R7f47261fc0c04203" /><Relationship Type="http://schemas.openxmlformats.org/officeDocument/2006/relationships/slide" Target="/ppt/slides/slide1.xml" Id="R75654f25b6e44ded" /><Relationship Type="http://schemas.openxmlformats.org/officeDocument/2006/relationships/slide" Target="/ppt/slides/slide2.xml" Id="R455c4fc8e4da4773" /><Relationship Type="http://schemas.openxmlformats.org/officeDocument/2006/relationships/slide" Target="/ppt/slides/slide3.xml" Id="Rab1e7ba288e44390" /><Relationship Type="http://schemas.openxmlformats.org/officeDocument/2006/relationships/slide" Target="/ppt/slides/slide4.xml" Id="R156a08735f9b419c" /><Relationship Type="http://schemas.openxmlformats.org/officeDocument/2006/relationships/slide" Target="/ppt/slides/slide5.xml" Id="R97a56dd60f16475e" /><Relationship Type="http://schemas.openxmlformats.org/officeDocument/2006/relationships/slide" Target="/ppt/slides/slide6.xml" Id="R3aa7cde5534d4f59" /><Relationship Type="http://schemas.openxmlformats.org/officeDocument/2006/relationships/slide" Target="/ppt/slides/slide7.xml" Id="R6bf712163fc64698" /><Relationship Type="http://schemas.openxmlformats.org/officeDocument/2006/relationships/slide" Target="/ppt/slides/slide8.xml" Id="R29cf3f0fac38420a" /><Relationship Type="http://schemas.openxmlformats.org/officeDocument/2006/relationships/slide" Target="/ppt/slides/slide9.xml" Id="R2040d32c5724414a" /><Relationship Type="http://schemas.openxmlformats.org/officeDocument/2006/relationships/slide" Target="/ppt/slides/slide10.xml" Id="R1d85c420b9b44e73" /><Relationship Type="http://schemas.openxmlformats.org/officeDocument/2006/relationships/slide" Target="/ppt/slides/slide11.xml" Id="R8515417c972a4a4d" /><Relationship Type="http://schemas.openxmlformats.org/officeDocument/2006/relationships/slide" Target="/ppt/slides/slide12.xml" Id="R2eb4d2b9384840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b74522ea8443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7dc58eac5549ab" /><Relationship Type="http://schemas.openxmlformats.org/officeDocument/2006/relationships/notesMaster" Target="/ppt/notesMasters/notesMaster1.xml" Id="Rc25a4426b2f44a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f0df04840a415d" /><Relationship Type="http://schemas.openxmlformats.org/officeDocument/2006/relationships/notesMaster" Target="/ppt/notesMasters/notesMaster1.xml" Id="R7835c7c2434a4e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8a81f7c3414a5c" /><Relationship Type="http://schemas.openxmlformats.org/officeDocument/2006/relationships/notesMaster" Target="/ppt/notesMasters/notesMaster1.xml" Id="Read3338448c044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8bb431ac3b4d49" /><Relationship Type="http://schemas.openxmlformats.org/officeDocument/2006/relationships/notesMaster" Target="/ppt/notesMasters/notesMaster1.xml" Id="R227f50927aa74e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fb1e0cfa31426b" /><Relationship Type="http://schemas.openxmlformats.org/officeDocument/2006/relationships/notesMaster" Target="/ppt/notesMasters/notesMaster1.xml" Id="R8692965e43584a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645c358c84455d" /><Relationship Type="http://schemas.openxmlformats.org/officeDocument/2006/relationships/notesMaster" Target="/ppt/notesMasters/notesMaster1.xml" Id="Ra9dc076ef61c44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b6c103a3af94f54" /><Relationship Type="http://schemas.openxmlformats.org/officeDocument/2006/relationships/notesMaster" Target="/ppt/notesMasters/notesMaster1.xml" Id="Ra9e3468bafd34c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f42920d36f49c3" /><Relationship Type="http://schemas.openxmlformats.org/officeDocument/2006/relationships/notesMaster" Target="/ppt/notesMasters/notesMaster1.xml" Id="R1e3b5178e8b942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60e60437e04bad" /><Relationship Type="http://schemas.openxmlformats.org/officeDocument/2006/relationships/notesMaster" Target="/ppt/notesMasters/notesMaster1.xml" Id="Rd3b426d2339245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4bbbe7fb5c34485" /><Relationship Type="http://schemas.openxmlformats.org/officeDocument/2006/relationships/notesMaster" Target="/ppt/notesMasters/notesMaster1.xml" Id="Rd4cfd0e174664f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e099209bad4c29" /><Relationship Type="http://schemas.openxmlformats.org/officeDocument/2006/relationships/notesMaster" Target="/ppt/notesMasters/notesMaster1.xml" Id="R64ed7f015dd64f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f56697c60048d9" /><Relationship Type="http://schemas.openxmlformats.org/officeDocument/2006/relationships/notesMaster" Target="/ppt/notesMasters/notesMaster1.xml" Id="R48e9e6e5363e49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Trace helps people prepare for a sales conversation using public research, their offer, and evidence they can inspect.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team reports feedback from industry professionals as the reason for evolving InsightIQ into Lead Trace. Do not imply a quantified interview study, named customer validation, or industry certification. Lead generation and CRM are planned, not released.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starting point was a common sales problem: knowing a company fact is useful, but knowing how to discuss its possible relevance takes more work. Lead Trace separates the fact, possible fit, and question.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 use deterministic local demonstration fixtures. They do not represent live research, customer adoption, or measured sales outcomes.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workflow saves the context, finds public sources, extracts evidence, and builds a brief. The seller reviews sources and gaps before using the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 use deterministic local demonstration fixtures. They do not represent live research, customer adoption, or measured sales outcomes.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Demonstration fixture source: https://en.wikipedia.org/wiki/Tim_Cook. The claim illustrates how stored evidence is presented, not a live verified research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 use deterministic local demonstration fixtures. They do not represent live research, customer adoption, or measured sales outcomes.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Next.js dashboard talks to a NestJS API. PostgreSQL stores the workspace and research jobs. A Python and LangGraph worker runs the research, using Tavily discovery and Qwen through DashScope.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outreach draft connects the research to the offer and invites a reply. The seller can personalize the message and verify its claims before sending.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Roadmap direction supplied by the project team. Features and dates remain to be finalized. Do not describe planned capabilities as already implemented.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Trace was built by Afnan Ahmad Tariq, Danyal Rana, and Hassan. The product is available at leadtrace.online.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fd26bfcbc04a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bc09c04dd4490b" /><Relationship Type="http://schemas.openxmlformats.org/officeDocument/2006/relationships/slideLayout" Target="/ppt/slideLayouts/slideLayout1.xml" Id="R5b9c2c152beb4a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9c2c152beb4a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7bd9bd491d4d97" /><Relationship Type="http://schemas.openxmlformats.org/officeDocument/2006/relationships/image" Target="/ppt/media/image.png" Id="R903f14867ee24dea" /><Relationship Type="http://schemas.openxmlformats.org/officeDocument/2006/relationships/notesSlide" Target="/ppt/notesSlides/notesSlide1.xml" Id="Ref703373cfea44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a4974f7e741d4" /><Relationship Type="http://schemas.openxmlformats.org/officeDocument/2006/relationships/image" Target="/ppt/media/image2.png" Id="Rb5a68cbe6f3d4c96" /><Relationship Type="http://schemas.openxmlformats.org/officeDocument/2006/relationships/image" Target="/ppt/media/image3.png" Id="R53abb72437024950" /><Relationship Type="http://schemas.openxmlformats.org/officeDocument/2006/relationships/notesSlide" Target="/ppt/notesSlides/notesSlide2.xml" Id="R2cc189a8e0354f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debe19c3d84e35" /><Relationship Type="http://schemas.openxmlformats.org/officeDocument/2006/relationships/notesSlide" Target="/ppt/notesSlides/notesSlide3.xml" Id="R3c790e478cd441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f6e5a75cc48c1" /><Relationship Type="http://schemas.openxmlformats.org/officeDocument/2006/relationships/image" Target="/ppt/media/image4.png" Id="R0dc9d6c4d7764ba7" /><Relationship Type="http://schemas.openxmlformats.org/officeDocument/2006/relationships/notesSlide" Target="/ppt/notesSlides/notesSlide4.xml" Id="R3dc6cf3efe1f4d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0a0f2786948cf" /><Relationship Type="http://schemas.openxmlformats.org/officeDocument/2006/relationships/notesSlide" Target="/ppt/notesSlides/notesSlide5.xml" Id="Rdc122c4060964d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c46c4c92f47fb" /><Relationship Type="http://schemas.openxmlformats.org/officeDocument/2006/relationships/image" Target="/ppt/media/image5.png" Id="R846512ee346a4e54" /><Relationship Type="http://schemas.openxmlformats.org/officeDocument/2006/relationships/notesSlide" Target="/ppt/notesSlides/notesSlide6.xml" Id="R232204b1d75247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a3f361de34a4f" /><Relationship Type="http://schemas.openxmlformats.org/officeDocument/2006/relationships/notesSlide" Target="/ppt/notesSlides/notesSlide7.xml" Id="R4b15c1ae4bfa469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b520f5c6d45e0" /><Relationship Type="http://schemas.openxmlformats.org/officeDocument/2006/relationships/image" Target="/ppt/media/image6.png" Id="Rfcbc68b5ffc34ba3" /><Relationship Type="http://schemas.openxmlformats.org/officeDocument/2006/relationships/notesSlide" Target="/ppt/notesSlides/notesSlide8.xml" Id="Rc6d347eea64540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8fa0c078a41a1" /><Relationship Type="http://schemas.openxmlformats.org/officeDocument/2006/relationships/notesSlide" Target="/ppt/notesSlides/notesSlide9.xml" Id="R5d5d591867184b5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344062b664e51" /><Relationship Type="http://schemas.openxmlformats.org/officeDocument/2006/relationships/notesSlide" Target="/ppt/notesSlides/notesSlide10.xml" Id="Ra4d21315bd1f41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e40cd2b6d451f" /><Relationship Type="http://schemas.openxmlformats.org/officeDocument/2006/relationships/image" Target="/ppt/media/image7.png" Id="Reb48c1e76174402c" /><Relationship Type="http://schemas.openxmlformats.org/officeDocument/2006/relationships/notesSlide" Target="/ppt/notesSlides/notesSlide11.xml" Id="R92f79389639b4c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6bf4af08e4451" /><Relationship Type="http://schemas.openxmlformats.org/officeDocument/2006/relationships/notesSlide" Target="/ppt/notesSlides/notesSlide12.xml" Id="R77c6448bc1a34a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D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2605E-D62F-4B59-99B9-6E7C32A099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3f14867ee24de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429625" y="1571625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9374FE-022A-49B2-9006-EAA67C19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Lead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AD95F-F9BB-4AC4-A7E7-88E4DADD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895600"/>
            <a:ext cx="7429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925"/>
            </a:defPPr>
            <a:lvl1pPr>
              <a:defRPr sz="2925"/>
            </a:lvl1pPr>
            <a:lvl2pPr>
              <a:defRPr sz="2925"/>
            </a:lvl2pPr>
            <a:lvl3pPr>
              <a:defRPr sz="2925"/>
            </a:lvl3pPr>
            <a:lvl4pPr>
              <a:defRPr sz="2925"/>
            </a:lvl4pPr>
            <a:lvl5pPr>
              <a:defRPr sz="2925"/>
            </a:lvl5pPr>
            <a:lvl6pPr>
              <a:defRPr sz="2925"/>
            </a:lvl6pPr>
            <a:lvl7pPr>
              <a:defRPr sz="2925"/>
            </a:lvl7pPr>
            <a:lvl8pPr>
              <a:defRPr sz="2925"/>
            </a:lvl8pPr>
            <a:lvl9pPr>
              <a:defRPr sz="2925"/>
            </a:lvl9pPr>
          </a:lstStyle>
          <a:p xmlns:a="http://schemas.openxmlformats.org/drawingml/2006/main">
            <a:pPr>
              <a:buNone/>
              <a:defRPr sz="32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Research today.</a:t>
            </a:r>
          </a:p>
          <a:p xmlns:a="http://schemas.openxmlformats.org/drawingml/2006/main">
            <a:pPr>
              <a:buNone/>
              <a:defRPr sz="32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A broader sales workflow ahead.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961B9-F03B-47AD-9A36-7FEF4EF8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743450"/>
            <a:ext cx="106108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/>
            </a:defPPr>
            <a:lvl1pPr>
              <a:defRPr sz="1875"/>
            </a:lvl1pPr>
            <a:lvl2pPr>
              <a:defRPr sz="1875"/>
            </a:lvl2pPr>
            <a:lvl3pPr>
              <a:defRPr sz="1875"/>
            </a:lvl3pPr>
            <a:lvl4pPr>
              <a:defRPr sz="1875"/>
            </a:lvl4pPr>
            <a:lvl5pPr>
              <a:defRPr sz="1875"/>
            </a:lvl5pPr>
            <a:lvl6pPr>
              <a:defRPr sz="1875"/>
            </a:lvl6pPr>
            <a:lvl7pPr>
              <a:defRPr sz="1875"/>
            </a:lvl7pPr>
            <a:lvl8pPr>
              <a:defRPr sz="1875"/>
            </a:lvl8pPr>
            <a:lvl9pPr>
              <a:defRPr sz="1875"/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Prospect research and cited briefs, expanding toward lead generation and CRM.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23AF4-F652-449E-A811-AC209A02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8959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Project evolution, October 2026</a:t>
            </a:r>
          </a:p>
        </p:txBody>
      </p:sp>
    </p:spTree>
    <p:extLst>
      <p:ext uri="{BB962C8B-B14F-4D97-AF65-F5344CB8AC3E}">
        <p14:creationId xmlns:p14="http://schemas.microsoft.com/office/powerpoint/2010/main" val="18728747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2B4A75-012D-4924-9FED-186277A3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InsightIQ is now Lead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79AE0-B0C8-46EF-903E-07D7CF3C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097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We listened to feedback from industry professionals and shaped our next stage around the needs of sales teams.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47A2B7-9C98-473E-B7C6-AFE855C9AC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68cbe6f3d4c96"/>
          <a:stretch xmlns:a="http://schemas.openxmlformats.org/drawingml/2006/main"/>
        </p:blipFill>
        <p:spPr>
          <a:xfrm xmlns:a="http://schemas.openxmlformats.org/drawingml/2006/main">
            <a:off x="2524125" y="2667000"/>
            <a:ext cx="1524000" cy="15240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CF73C7-9E17-43E0-BA25-28FDFA106E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abb72437024950"/>
          <a:stretch xmlns:a="http://schemas.openxmlformats.org/drawingml/2006/main"/>
        </p:blipFill>
        <p:spPr>
          <a:xfrm xmlns:a="http://schemas.openxmlformats.org/drawingml/2006/main">
            <a:off x="8096250" y="2667000"/>
            <a:ext cx="1524000" cy="152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0BD22-5633-4682-8289-A3B8B519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09925"/>
            <a:ext cx="9525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868C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AED45-4944-4798-9556-6046BD15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148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InsightIQ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E8E52A-ABAB-446E-A6E3-28335598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148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rPr>
              <a:t>Lead Trace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AD96D-B5AA-4ABC-813D-6F173CAE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467350"/>
            <a:ext cx="108775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Our research foundation is expanding toward lead generation, CRM, and connected sales workflows.</a:t>
            </a:r>
          </a:p>
        </p:txBody>
      </p:sp>
    </p:spTree>
    <p:extLst>
      <p:ext uri="{BB962C8B-B14F-4D97-AF65-F5344CB8AC3E}">
        <p14:creationId xmlns:p14="http://schemas.microsoft.com/office/powerpoint/2010/main" val="5530391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1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1D7BA4-68E8-48C9-B115-A5FC322D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idea behind Lead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9243F6-F365-49C0-8E77-66243CF6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66900"/>
            <a:ext cx="4743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For people who sell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36C3A6-A0FA-44A0-B50C-E2BD6D48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90800"/>
            <a:ext cx="47625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B2B sales teams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Agencies pitching clients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Founders finding customers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AE6E6-C662-4637-8138-3EBC08F2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669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Before the conversation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53819-FFAA-43A4-A358-F536BC71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90800"/>
            <a:ext cx="51435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What is sourced?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What is inferred?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What should I ask?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98C74-91A6-4A30-B5C8-2BD21D6A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267325"/>
            <a:ext cx="10896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Each angle connects a public claim to your offer.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43C3C-7F7E-4BD6-A80E-D95EFC98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905500"/>
            <a:ext cx="1089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A hypothesis explains the possible fit. A question helps you test it.</a:t>
            </a:r>
          </a:p>
        </p:txBody>
      </p:sp>
    </p:spTree>
    <p:extLst>
      <p:ext uri="{BB962C8B-B14F-4D97-AF65-F5344CB8AC3E}">
        <p14:creationId xmlns:p14="http://schemas.microsoft.com/office/powerpoint/2010/main" val="308508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A7CD5-AE24-457D-8835-636D3532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33425"/>
            <a:ext cx="5000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Meeting prep</a:t>
            </a:r>
          </a:p>
          <a:p xmlns:a="http://schemas.openxmlformats.org/drawingml/2006/main">
            <a:pPr>
              <a:buNone/>
              <a:def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or outreach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5DDAC-5FD2-45AA-9A4B-0F2FC99D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You choose the goal.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FE550-10A4-48A0-B1D6-EAF2E7AA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443865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Add a prospect and explain</a:t>
            </a:r>
          </a:p>
          <a:p xmlns:a="http://schemas.openxmlformats.org/drawingml/2006/main">
            <a:pPr>
              <a:buNone/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what you sell. Lead Trace</a:t>
            </a:r>
          </a:p>
          <a:p xmlns:a="http://schemas.openxmlformats.org/drawingml/2006/main">
            <a:pPr>
              <a:buNone/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keeps both in context.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40794F-A5D9-4D83-BC86-73133588FB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9d6c4d7764ba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76875" y="1641947"/>
            <a:ext cx="6191250" cy="346933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9ECBC-C4EA-470F-9450-6D48B870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657850"/>
            <a:ext cx="5953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Meeting: talking points and questions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57EDA-26E0-4874-9FBA-6B3A1350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6115050"/>
            <a:ext cx="5953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Outreach: an opener and draft to adapt</a:t>
            </a:r>
          </a:p>
        </p:txBody>
      </p:sp>
    </p:spTree>
    <p:extLst>
      <p:ext uri="{BB962C8B-B14F-4D97-AF65-F5344CB8AC3E}">
        <p14:creationId xmlns:p14="http://schemas.microsoft.com/office/powerpoint/2010/main" val="7743520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1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FA76ED-4C20-479C-8414-8E5956C2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8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a Deal Brief takes shape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A740A-126E-4E38-8F6E-08764A1F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9050">
            <a:solidFill>
              <a:srgbClr val="63D7F2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337BEA-8336-4B52-81F9-FD318172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A7377-D59A-4467-9DDC-57472307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Prospect, offer,</a:t>
            </a:r>
          </a:p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and chosen goal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D132F-B9E6-454B-8D10-C62BC126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9050">
            <a:solidFill>
              <a:srgbClr val="63D7F2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3AE85-F261-44D8-AC0E-8BB96688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Discovery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1A3E4D-236D-40BD-88CB-C0329DDA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Relevant public</a:t>
            </a:r>
          </a:p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company signals</a:t>
            </a:r>
          </a:p>
        </p:txBody>
      </p: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7F50CC-B02F-46DB-B31D-78E509BDB772}"/>
              </a:ext>
            </a:extLst>
          </p:cNvPr>
          <p:cNvCxnSpPr>
            <a:stCxn xmlns:a="http://schemas.openxmlformats.org/drawingml/2006/main" id="2" idx="6"/>
            <a:endCxn xmlns:a="http://schemas.openxmlformats.org/drawingml/2006/main" id="5" idx="2"/>
          </p:cNvCxnSpPr>
          <p:nvPr/>
        </p:nvCxnSpPr>
        <p:spPr>
          <a:xfrm xmlns:a="http://schemas.openxmlformats.org/drawingml/2006/main">
            <a:off x="1447800" y="248602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3D7F2"/>
            </a:solidFill>
            <a:tailEnd type="triangl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4254D-395A-4390-A6AB-D1392E86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9050">
            <a:solidFill>
              <a:srgbClr val="63D7F2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DAD8B-1FCA-48A5-B16C-E37F9232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1DF86-28A2-4C8C-8923-81175DC5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Claims with</a:t>
            </a:r>
          </a:p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source links</a:t>
            </a:r>
          </a:p>
        </p:txBody>
      </p: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429007-89EE-4CD3-B5BC-251505121F99}"/>
              </a:ext>
            </a:extLst>
          </p:cNvPr>
          <p:cNvCxnSpPr>
            <a:stCxn xmlns:a="http://schemas.openxmlformats.org/drawingml/2006/main" id="5" idx="6"/>
            <a:endCxn xmlns:a="http://schemas.openxmlformats.org/drawingml/2006/main" id="9" idx="2"/>
          </p:cNvCxnSpPr>
          <p:nvPr/>
        </p:nvCxnSpPr>
        <p:spPr>
          <a:xfrm xmlns:a="http://schemas.openxmlformats.org/drawingml/2006/main">
            <a:off x="3676650" y="248602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3D7F2"/>
            </a:solidFill>
            <a:tailEnd type="triangle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A5C47F-7C66-4285-81BD-A215B0B8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9050">
            <a:solidFill>
              <a:srgbClr val="63D7F2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AE5AD9-3C44-4118-AF54-1C459CEA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Brief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8C6C94-384F-4179-BB64-46223034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Brief and</a:t>
            </a:r>
          </a:p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citation checks</a:t>
            </a:r>
          </a:p>
        </p:txBody>
      </p: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65BE25-21BE-4C1A-A9BD-1D15746F5D1C}"/>
              </a:ext>
            </a:extLst>
          </p:cNvPr>
          <p:cNvCxnSpPr>
            <a:stCxn xmlns:a="http://schemas.openxmlformats.org/drawingml/2006/main" id="9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>
            <a:off x="5905500" y="248602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3D7F2"/>
            </a:solidFill>
            <a:tailEnd type="triangle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B1E0CB-D8BE-4ABD-B9F4-C86F66D2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7F2"/>
          </a:solidFill>
          <a:ln xmlns:a="http://schemas.openxmlformats.org/drawingml/2006/main" w="19050">
            <a:solidFill>
              <a:srgbClr val="63D7F2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4DFAFD-3F67-496B-82EA-902F33C3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7D46AE-E76A-480B-B14C-7B08CC50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Check gaps and</a:t>
            </a:r>
          </a:p>
          <a:p xmlns:a="http://schemas.openxmlformats.org/drawingml/2006/main">
            <a:pPr>
              <a:buNone/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adapt the output</a:t>
            </a:r>
          </a:p>
        </p:txBody>
      </p:sp>
      <p:cxnSp>
        <p:nvCxn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EA6169-F21B-481D-9224-7A35EDEE5EE6}"/>
              </a:ext>
            </a:extLst>
          </p:cNvPr>
          <p:cNvCxnSpPr>
            <a:stCxn xmlns:a="http://schemas.openxmlformats.org/drawingml/2006/main" id="13" idx="6"/>
            <a:endCxn xmlns:a="http://schemas.openxmlformats.org/drawingml/2006/main" id="17" idx="2"/>
          </p:cNvCxnSpPr>
          <p:nvPr/>
        </p:nvCxnSpPr>
        <p:spPr>
          <a:xfrm xmlns:a="http://schemas.openxmlformats.org/drawingml/2006/main">
            <a:off x="8134350" y="248602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3D7F2"/>
            </a:solidFill>
            <a:tailEnd type="triangle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5298A6-D248-4C87-AFE2-0839476E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43600"/>
            <a:ext cx="10801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Sources stay attached so the seller can review the reasoning.</a:t>
            </a:r>
          </a:p>
        </p:txBody>
      </p:sp>
    </p:spTree>
    <p:extLst>
      <p:ext uri="{BB962C8B-B14F-4D97-AF65-F5344CB8AC3E}">
        <p14:creationId xmlns:p14="http://schemas.microsoft.com/office/powerpoint/2010/main" val="1064318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1C953-25D8-4A72-94D9-7FA81C39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Your research, in one workspace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037DDC-CDAE-44AE-9990-AEC253466B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512ee346a4e5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0089" y="1666875"/>
            <a:ext cx="7987622" cy="44958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4B3D26-960D-4EE6-9561-80539284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809750"/>
            <a:ext cx="2619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Research progress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BDED9-B7B0-4396-8DB1-3AEC4104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43150"/>
            <a:ext cx="2619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See what is running and what is ready.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95551F-3E43-4BDB-8B00-99CE6415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38525"/>
            <a:ext cx="2619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Saved briefs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8ED9A-9505-482C-9495-930128A2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62400"/>
            <a:ext cx="26193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Open the latest research and continue preparing.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45E354-F539-4A0C-A96E-733686BC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229225"/>
            <a:ext cx="2619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Team workspace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49976-896E-48F3-8FF4-10B5E115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62625"/>
            <a:ext cx="2619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Keep prospect research together.</a:t>
            </a:r>
          </a:p>
        </p:txBody>
      </p:sp>
    </p:spTree>
    <p:extLst>
      <p:ext uri="{BB962C8B-B14F-4D97-AF65-F5344CB8AC3E}">
        <p14:creationId xmlns:p14="http://schemas.microsoft.com/office/powerpoint/2010/main" val="3816282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63CEE-2475-45B2-ABB5-4B8FD2B2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Conversation angles you can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CC28D-91EF-4A02-9703-A4D42176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266825"/>
            <a:ext cx="1089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Demonstration example: leadership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2B2997-B961-46E9-83A3-877776FE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085975"/>
            <a:ext cx="4524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Source claim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67B4F-A628-4DCC-A2CD-E92B9747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657475"/>
            <a:ext cx="44196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Timothy Donald Cook is the chief executive officer of Apple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3F43A-AF2D-47A3-B91D-5D536385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85975"/>
            <a:ext cx="563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Why it could matter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3735F-EB53-4637-BD14-CD8D9134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57475"/>
            <a:ext cx="5562600" cy="2124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Leadership context helps frame a conversation. It does not establish a buying need, budget, or a reason to act now. The seller still needs to test the fit.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706C2D-6BA5-400B-9430-C98A0B31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48225"/>
            <a:ext cx="556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Hypothesis to validate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77A900-6897-477F-8089-1D0F18D5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8A373-F186-4ACB-BAD6-EF992BE6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410200"/>
            <a:ext cx="10534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Ask in the conversation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DC1BD-8060-4444-AC0E-785CCE3B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810250"/>
            <a:ext cx="104679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Which current priority would make a focused conversation useful?</a:t>
            </a:r>
          </a:p>
        </p:txBody>
      </p:sp>
    </p:spTree>
    <p:extLst>
      <p:ext uri="{BB962C8B-B14F-4D97-AF65-F5344CB8AC3E}">
        <p14:creationId xmlns:p14="http://schemas.microsoft.com/office/powerpoint/2010/main" val="619894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1C47D-CEA3-474E-A0A2-80768375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11144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The evidence stays within reach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E28242-B4F1-4F09-90A1-049BA5CF1A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bc68b5ffc34ba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4825" y="1658077"/>
            <a:ext cx="7591425" cy="419907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65A8C-22FB-4D55-9E22-3C4C793A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704975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Trace each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1E0BD-D389-4AC8-BC91-4C8003E1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47925"/>
            <a:ext cx="3152775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Key signals must match a stored claim and its source URL.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A85CC-DC6B-49E1-9DC9-04E9C598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2100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Check the gaps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D6593-7AB4-469B-8F0D-CD556D11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914900"/>
            <a:ext cx="3143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Review freshness and contradictions before using the brief.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76CFB-D60A-4ADE-9133-988383E9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38175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Demonstration fixture data. Source links make claims traceable, not guaranteed.</a:t>
            </a:r>
          </a:p>
        </p:txBody>
      </p:sp>
    </p:spTree>
    <p:extLst>
      <p:ext uri="{BB962C8B-B14F-4D97-AF65-F5344CB8AC3E}">
        <p14:creationId xmlns:p14="http://schemas.microsoft.com/office/powerpoint/2010/main" val="9803444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D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D2A5B-7EA8-4D91-9715-CB1FBE1A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10953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3959E-B73C-40AF-A4BD-D27394A7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2477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 responsive app, with research running in the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01A71-8254-467B-9A05-D907B86B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669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26FC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007D9-3262-4D52-935A-984CE5A5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Web dashboard</a:t>
            </a:r>
          </a:p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Next.js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3651E-979B-4235-A233-4752FBE6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4669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26FC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2E039-5F8B-4DB1-A501-15BC02D5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6289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API and accounts</a:t>
            </a:r>
          </a:p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NestJS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3BC19-E947-4569-99FD-4D263C5C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4669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3335">
            <a:solidFill>
              <a:srgbClr val="0B214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F7742A-6FB3-4E78-BDD3-66DA4027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6289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Data and job queue</a:t>
            </a:r>
          </a:p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PostgreSQL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8B23D-B613-4E40-BC37-4CFD05C5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669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3335">
            <a:solidFill>
              <a:srgbClr val="0B214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D7BCC-D27E-4339-93E6-43D2B03A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289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Research worker</a:t>
            </a:r>
          </a:p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Python + LangGraph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37F7E5-FCB0-4FBD-8ED1-731BCC5C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6767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26FC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9C943-5E20-4549-A89B-41EDF1B9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8387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Public discovery</a:t>
            </a:r>
          </a:p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Tavily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4EC4A-FE72-4328-B6E6-AF54E148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6767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26FC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F2D27-A22D-41F2-BA34-260E752E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8387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AI inference</a:t>
            </a:r>
          </a:p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Qwen</a:t>
            </a:r>
          </a:p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DashScope</a:t>
            </a:r>
          </a:p>
        </p:txBody>
      </p: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02C34F-2DF6-4C8B-B8AB-5B06418B01C3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867025" y="317182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FC5B2E-6198-4410-A028-80F57287C7A8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734050" y="3171825"/>
            <a:ext cx="561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E337E9-B39B-4560-9571-931B458B4F39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591550" y="317182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FFB444-08C6-4F19-BBE3-BB4F3C3BCA14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4586288" y="3876675"/>
            <a:ext cx="0" cy="800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65847E-DFF0-498F-8981-10BC2E58424F}"/>
              </a:ext>
            </a:extLst>
          </p:cNvPr>
          <p:cNvCxnSpPr>
            <a:stCxn xmlns:a="http://schemas.openxmlformats.org/drawingml/2006/main" id="9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10310813" y="3876675"/>
            <a:ext cx="0" cy="800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CD2644-CBCC-4329-B716-A40F232E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286500"/>
            <a:ext cx="10991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PostgreSQL stores workspace data and queues research jobs.</a:t>
            </a:r>
          </a:p>
        </p:txBody>
      </p:sp>
    </p:spTree>
    <p:extLst>
      <p:ext uri="{BB962C8B-B14F-4D97-AF65-F5344CB8AC3E}">
        <p14:creationId xmlns:p14="http://schemas.microsoft.com/office/powerpoint/2010/main" val="11131056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8D7F7-5B1F-4DC0-BBBF-D586352E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0953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An outreach draft for your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6B1CCC-7EC0-4393-8788-A356D9BE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 source-based opener, a conditional fit, and a question that invites a reply.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5D3703-05BD-4BCB-A5E7-700879BC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305050"/>
            <a:ext cx="10829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Hi Tim,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21BE4-D65B-44D2-913A-1FD0D1C2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886075"/>
            <a:ext cx="10829925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I noticed your leadership role at Apple. I would like to understand which current priorities, if any, would make this conversation useful.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C8601-A985-4591-A9D2-AAD1A6F6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324350"/>
            <a:ext cx="108299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We help sales teams turn public prospect research into source-linked conversation briefs. If that relates to an active need, could we compare it with your current approach?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FC527-9622-42D4-BEE6-DF4F2B91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467350"/>
            <a:ext cx="108299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Best,</a:t>
            </a:r>
          </a:p>
          <a:p xmlns:a="http://schemas.openxmlformats.org/drawingml/2006/main">
            <a:pPr>
              <a:buNone/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The Lead Trace team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AE429C-87E2-4E84-8610-E1DF3EB8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15075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Illustrative draft. Verify the source and personalize the message before sending.</a:t>
            </a:r>
          </a:p>
        </p:txBody>
      </p:sp>
    </p:spTree>
    <p:extLst>
      <p:ext uri="{BB962C8B-B14F-4D97-AF65-F5344CB8AC3E}">
        <p14:creationId xmlns:p14="http://schemas.microsoft.com/office/powerpoint/2010/main" val="15974254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DF6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B193B-FC77-433D-B0E2-70FD9D0C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A broader direction for Lead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EF7A7-D39A-4DFA-9B95-032902CC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rPr>
              <a:t>Available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705064-E02C-4250-A6B6-3B77D91E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3717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Prospect research, source evidence, cited briefs, outreach drafts, and shared workspaces.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4E8C8-79D4-4502-AA8B-681352FF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7528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rPr>
              <a:t>Planned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34366-FCFA-4B12-9DEF-1BD6AF72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371975"/>
            <a:ext cx="704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Lead generation, CRM, and related sales workflows.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BC2E1-4B9C-438B-B525-941759A7AA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48c1e76174402c"/>
          <a:stretch xmlns:a="http://schemas.openxmlformats.org/drawingml/2006/main"/>
        </p:blipFill>
        <p:spPr>
          <a:xfrm xmlns:a="http://schemas.openxmlformats.org/drawingml/2006/main">
            <a:off x="8334375" y="2000250"/>
            <a:ext cx="3143250" cy="3143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F09AE-FA9E-452B-857D-BC18173E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810250"/>
            <a:ext cx="108775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We will finalize the feature set and release plans as development and industry feedback progress.</a:t>
            </a:r>
          </a:p>
        </p:txBody>
      </p:sp>
    </p:spTree>
    <p:extLst>
      <p:ext uri="{BB962C8B-B14F-4D97-AF65-F5344CB8AC3E}">
        <p14:creationId xmlns:p14="http://schemas.microsoft.com/office/powerpoint/2010/main" val="20361014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21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8D79A-7530-419F-A377-66D1C624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3875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Lead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78014-F9F2-4E9A-B96B-44185B5E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38325"/>
            <a:ext cx="69532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Turn research into</a:t>
            </a:r>
          </a:p>
          <a:p xmlns:a="http://schemas.openxmlformats.org/drawingml/2006/main">
            <a:pPr>
              <a:buNone/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conversation</a:t>
            </a:r>
          </a:p>
          <a:p xmlns:a="http://schemas.openxmlformats.org/drawingml/2006/main">
            <a:pPr>
              <a:buNone/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worth having.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5AFA7C-5D3E-4F14-B0BF-CF2AAD2C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52625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Built by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E31A6-09FC-448C-9D9C-CF33AAD9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38425"/>
            <a:ext cx="3514725" cy="2409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Afnan Ahmad Tariq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Danyal Rana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Hassan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82CB8-921D-49FF-8971-6B58DC98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67400"/>
            <a:ext cx="1078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leadtrace.online</a:t>
            </a:r>
          </a:p>
        </p:txBody>
      </p:sp>
    </p:spTree>
    <p:extLst>
      <p:ext uri="{BB962C8B-B14F-4D97-AF65-F5344CB8AC3E}">
        <p14:creationId xmlns:p14="http://schemas.microsoft.com/office/powerpoint/2010/main" val="4505738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2026-10-21T01:12:40.0120000Z</dcterms:created>
  <dcterms:modified xsi:type="dcterms:W3CDTF">2026-10-21T01:12:40.0120000Z</dcterms:modified>
</coreProperties>
</file>