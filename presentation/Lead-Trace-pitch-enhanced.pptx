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a00ff17501a4269" /><Relationship Type="http://schemas.openxmlformats.org/officeDocument/2006/relationships/extended-properties" Target="/docProps/app.xml" Id="R509707113a494bd9" /><Relationship Type="http://schemas.openxmlformats.org/officeDocument/2006/relationships/officeDocument" Target="/ppt/presentation.xml" Id="R940b5c4cefb749f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ec0e67b19264802"/>
  </p:sldMasterIdLst>
  <p:notesMasterIdLst>
    <p:notesMasterId xmlns:r="http://schemas.openxmlformats.org/officeDocument/2006/relationships" r:id="Re46cfd2af96a4d3c"/>
  </p:notesMasterIdLst>
  <p:sldIdLst>
    <p:sldId xmlns:r="http://schemas.openxmlformats.org/officeDocument/2006/relationships" id="256" r:id="R332fc9fbe5984690"/>
    <p:sldId xmlns:r="http://schemas.openxmlformats.org/officeDocument/2006/relationships" id="257" r:id="Rb3341d63c0074c6c"/>
    <p:sldId xmlns:r="http://schemas.openxmlformats.org/officeDocument/2006/relationships" id="258" r:id="Rfe95722983c249a7"/>
    <p:sldId xmlns:r="http://schemas.openxmlformats.org/officeDocument/2006/relationships" id="259" r:id="Rad5ef14931e44e14"/>
    <p:sldId xmlns:r="http://schemas.openxmlformats.org/officeDocument/2006/relationships" id="260" r:id="R27c8f255f8094d06"/>
    <p:sldId xmlns:r="http://schemas.openxmlformats.org/officeDocument/2006/relationships" id="261" r:id="Rd116bf45dfa64657"/>
    <p:sldId xmlns:r="http://schemas.openxmlformats.org/officeDocument/2006/relationships" id="262" r:id="Rcba9a35fd5cf4e51"/>
    <p:sldId xmlns:r="http://schemas.openxmlformats.org/officeDocument/2006/relationships" id="263" r:id="R8c429b2b3830470e"/>
    <p:sldId xmlns:r="http://schemas.openxmlformats.org/officeDocument/2006/relationships" id="264" r:id="Rf97bc462aee247e5"/>
    <p:sldId xmlns:r="http://schemas.openxmlformats.org/officeDocument/2006/relationships" id="265" r:id="Rc43c65dff1c44d9d"/>
    <p:sldId xmlns:r="http://schemas.openxmlformats.org/officeDocument/2006/relationships" id="266" r:id="Ra472090ec4e6483c"/>
    <p:sldId xmlns:r="http://schemas.openxmlformats.org/officeDocument/2006/relationships" id="267" r:id="Rd77e2271100442b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6731157bc74fb8" /><Relationship Type="http://schemas.openxmlformats.org/officeDocument/2006/relationships/slideMaster" Target="/ppt/slideMasters/slideMaster1.xml" Id="R9ec0e67b19264802" /><Relationship Type="http://schemas.openxmlformats.org/officeDocument/2006/relationships/notesMaster" Target="/ppt/notesMasters/notesMaster1.xml" Id="Re46cfd2af96a4d3c" /><Relationship Type="http://schemas.openxmlformats.org/officeDocument/2006/relationships/presProps" Target="/ppt/presProps.xml" Id="Rd682cfd45dae4480" /><Relationship Type="http://schemas.openxmlformats.org/officeDocument/2006/relationships/tableStyles" Target="/ppt/tableStyles.xml" Id="R82cd5ac7519643ac" /><Relationship Type="http://schemas.openxmlformats.org/officeDocument/2006/relationships/slide" Target="/ppt/slides/slide1.xml" Id="R332fc9fbe5984690" /><Relationship Type="http://schemas.openxmlformats.org/officeDocument/2006/relationships/slide" Target="/ppt/slides/slide2.xml" Id="Rb3341d63c0074c6c" /><Relationship Type="http://schemas.openxmlformats.org/officeDocument/2006/relationships/slide" Target="/ppt/slides/slide3.xml" Id="Rfe95722983c249a7" /><Relationship Type="http://schemas.openxmlformats.org/officeDocument/2006/relationships/slide" Target="/ppt/slides/slide4.xml" Id="Rad5ef14931e44e14" /><Relationship Type="http://schemas.openxmlformats.org/officeDocument/2006/relationships/slide" Target="/ppt/slides/slide5.xml" Id="R27c8f255f8094d06" /><Relationship Type="http://schemas.openxmlformats.org/officeDocument/2006/relationships/slide" Target="/ppt/slides/slide6.xml" Id="Rd116bf45dfa64657" /><Relationship Type="http://schemas.openxmlformats.org/officeDocument/2006/relationships/slide" Target="/ppt/slides/slide7.xml" Id="Rcba9a35fd5cf4e51" /><Relationship Type="http://schemas.openxmlformats.org/officeDocument/2006/relationships/slide" Target="/ppt/slides/slide8.xml" Id="R8c429b2b3830470e" /><Relationship Type="http://schemas.openxmlformats.org/officeDocument/2006/relationships/slide" Target="/ppt/slides/slide9.xml" Id="Rf97bc462aee247e5" /><Relationship Type="http://schemas.openxmlformats.org/officeDocument/2006/relationships/slide" Target="/ppt/slides/slide10.xml" Id="Rc43c65dff1c44d9d" /><Relationship Type="http://schemas.openxmlformats.org/officeDocument/2006/relationships/slide" Target="/ppt/slides/slide11.xml" Id="Ra472090ec4e6483c" /><Relationship Type="http://schemas.openxmlformats.org/officeDocument/2006/relationships/slide" Target="/ppt/slides/slide12.xml" Id="Rd77e2271100442b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f72503f03c94b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2e214434b754bb4" /><Relationship Type="http://schemas.openxmlformats.org/officeDocument/2006/relationships/notesMaster" Target="/ppt/notesMasters/notesMaster1.xml" Id="Rec6db9c1ed604f8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4c1da4d634406c" /><Relationship Type="http://schemas.openxmlformats.org/officeDocument/2006/relationships/notesMaster" Target="/ppt/notesMasters/notesMaster1.xml" Id="R482cd1eab1ad43b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c1ae556ef40461b" /><Relationship Type="http://schemas.openxmlformats.org/officeDocument/2006/relationships/notesMaster" Target="/ppt/notesMasters/notesMaster1.xml" Id="Rf78b53aebd954a4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de68bc00be421e" /><Relationship Type="http://schemas.openxmlformats.org/officeDocument/2006/relationships/notesMaster" Target="/ppt/notesMasters/notesMaster1.xml" Id="Rec7c44610abc40d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e3af318da224034" /><Relationship Type="http://schemas.openxmlformats.org/officeDocument/2006/relationships/notesMaster" Target="/ppt/notesMasters/notesMaster1.xml" Id="R15fc5f6bc93d40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4fbd31ffb324d34" /><Relationship Type="http://schemas.openxmlformats.org/officeDocument/2006/relationships/notesMaster" Target="/ppt/notesMasters/notesMaster1.xml" Id="Rd9c9a02331b6409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492158c24bd4c81" /><Relationship Type="http://schemas.openxmlformats.org/officeDocument/2006/relationships/notesMaster" Target="/ppt/notesMasters/notesMaster1.xml" Id="R6c478344af1249d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08063d23fc4d11" /><Relationship Type="http://schemas.openxmlformats.org/officeDocument/2006/relationships/notesMaster" Target="/ppt/notesMasters/notesMaster1.xml" Id="R567dc3217106436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682eae25614ce7" /><Relationship Type="http://schemas.openxmlformats.org/officeDocument/2006/relationships/notesMaster" Target="/ppt/notesMasters/notesMaster1.xml" Id="Rda8ae9982d5c4ee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af498c3fcf4e8c" /><Relationship Type="http://schemas.openxmlformats.org/officeDocument/2006/relationships/notesMaster" Target="/ppt/notesMasters/notesMaster1.xml" Id="Rcb810e5a11ce4c4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10cabadfdbb4423" /><Relationship Type="http://schemas.openxmlformats.org/officeDocument/2006/relationships/notesMaster" Target="/ppt/notesMasters/notesMaster1.xml" Id="Rfe0fa72df90441d3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84a1a055b6654b02" /><Relationship Type="http://schemas.openxmlformats.org/officeDocument/2006/relationships/notesMaster" Target="/ppt/notesMasters/notesMaster1.xml" Id="Rb440c0c3f395422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screenshots: current code at 9b48d53, captured 24 October 2026 in an isolated sample-data workspace. All people, companies, deal values and research in screenshots are fictional. Screens show the actual application UI, not a live provider run. Source: repository README.md; apps/web/components/crm; apps/api/src/leads; apps/api/src/crm.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screenshots: current code at 9b48d53, captured 24 October 2026 in an isolated sample-data workspace. All people, companies, deal values and research in screenshots are fictional. Screens show the actual application UI, not a live provider run. Source: repository README.md; apps/web/components/crm; apps/api/src/leads; apps/api/src/crm.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screenshots: current code at 9b48d53, captured 24 October 2026 in an isolated sample-data workspace. All people, companies, deal values and research in screenshots are fictional. Screens show the actual application UI, not a live provider run. Source: repository README.md; apps/web/components/crm; apps/api/src/leads; apps/api/src/crm.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screenshots: current code at 9b48d53, captured 24 October 2026 in an isolated sample-data workspace. All people, companies, deal values and research in screenshots are fictional. Screens show the actual application UI, not a live provider run. Source: repository README.md; apps/web/components/crm; apps/api/src/leads; apps/api/src/crm.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screenshots: current code at 9b48d53, captured 24 October 2026 in an isolated sample-data workspace. All people, companies, deal values and research in screenshots are fictional. Screens show the actual application UI, not a live provider run. Source: repository README.md; apps/web/components/crm; apps/api/src/leads; apps/api/src/crm.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screenshots: current code at 9b48d53, captured 24 October 2026 in an isolated sample-data workspace. All people, companies, deal values and research in screenshots are fictional. Screens show the actual application UI, not a live provider run. Source: repository README.md; apps/web/components/crm; apps/api/src/leads; apps/api/src/crm.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screenshots: current code at 9b48d53, captured 24 October 2026 in an isolated sample-data workspace. All people, companies, deal values and research in screenshots are fictional. Screens show the actual application UI, not a live provider run. Source: repository README.md; apps/web/components/crm; apps/api/src/leads; apps/api/src/crm.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screenshots: current code at 9b48d53, captured 24 October 2026 in an isolated sample-data workspace. All people, companies, deal values and research in screenshots are fictional. Screens show the actual application UI, not a live provider run. Source: repository README.md; apps/web/components/crm; apps/api/src/leads; apps/api/src/crm.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screenshots: current code at 9b48d53, captured 24 October 2026 in an isolated sample-data workspace. All people, companies, deal values and research in screenshots are fictional. Screens show the actual application UI, not a live provider run. Source: repository README.md; apps/web/components/crm; apps/api/src/leads; apps/api/src/crm. Architecture sources: apps/api/src/leads/lead-discovery-worker.ts; apps/api/src/leads/lead-deep-discovery.service.ts; apps/worker/src/lead_trace_worker; docker-compose.yml. Calendar is OAuth event creation, not two-way sync.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screenshots: current code at 9b48d53, captured 24 October 2026 in an isolated sample-data workspace. All people, companies, deal values and research in screenshots are fictional. Screens show the actual application UI, not a live provider run. Source: repository README.md; apps/web/components/crm; apps/api/src/leads; apps/api/src/crm.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Recorded live cohort: docs/lead-generation-live-audit.html, captured 23 October 2026. https://github.com/afnanahmadtariq/lead-trace/blob/v1.4.0/docs/lead-generation-live-audit.html . The audit found 9 prospects and 1 fully source-supported match, then completed the CRM-to-research journey with 11 sources and 15 evidence items. Counts describe one small audit, not precision/recall, sales outcomes, or current live results. Future scope is uncommitted and subject to development feedback. Latest implemented CRM deletion controls are not listed as future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Product screenshots: current code at 9b48d53, captured 24 October 2026 in an isolated sample-data workspace. All people, companies, deal values and research in screenshots are fictional. Screens show the actual application UI, not a live provider run. Source: repository README.md; apps/web/components/crm; apps/api/src/leads; apps/api/src/crm.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25ab437560463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07f191d22f547fd" /><Relationship Type="http://schemas.openxmlformats.org/officeDocument/2006/relationships/slideLayout" Target="/ppt/slideLayouts/slideLayout1.xml" Id="R1d717382dc93430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d717382dc93430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e069de59444476" /><Relationship Type="http://schemas.openxmlformats.org/officeDocument/2006/relationships/image" Target="/ppt/media/image.png" Id="R797817f2286f41b5" /><Relationship Type="http://schemas.openxmlformats.org/officeDocument/2006/relationships/notesSlide" Target="/ppt/notesSlides/notesSlide1.xml" Id="R0db527dc6e1f48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213d3fa37044bd" /><Relationship Type="http://schemas.openxmlformats.org/officeDocument/2006/relationships/image" Target="/ppt/media/image2.png" Id="R9045a33294ae47da" /><Relationship Type="http://schemas.openxmlformats.org/officeDocument/2006/relationships/image" Target="/ppt/media/image3.png" Id="R08ea2c8689b94652" /><Relationship Type="http://schemas.openxmlformats.org/officeDocument/2006/relationships/notesSlide" Target="/ppt/notesSlides/notesSlide2.xml" Id="Re73b25c6a96149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28f352ea2f441e" /><Relationship Type="http://schemas.openxmlformats.org/officeDocument/2006/relationships/notesSlide" Target="/ppt/notesSlides/notesSlide3.xml" Id="Re999c5c04a22450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31d04738114a69" /><Relationship Type="http://schemas.openxmlformats.org/officeDocument/2006/relationships/image" Target="/ppt/media/image4.png" Id="Rbcbbbd4bd2e346cc" /><Relationship Type="http://schemas.openxmlformats.org/officeDocument/2006/relationships/notesSlide" Target="/ppt/notesSlides/notesSlide4.xml" Id="R2600c64e63994e0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3eb244f1bf4739" /><Relationship Type="http://schemas.openxmlformats.org/officeDocument/2006/relationships/image" Target="/ppt/media/image.svg" Id="R5c0e6d95b37a4f45" /><Relationship Type="http://schemas.openxmlformats.org/officeDocument/2006/relationships/image" Target="/ppt/media/image.png" Id="R7278ab48a33e4ba4" /><Relationship Type="http://schemas.openxmlformats.org/officeDocument/2006/relationships/notesSlide" Target="/ppt/notesSlides/notesSlide5.xml" Id="Re7da3b63dbb041f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a2150f51c14d95" /><Relationship Type="http://schemas.openxmlformats.org/officeDocument/2006/relationships/image" Target="/ppt/media/image5.png" Id="Rae41c3e7eba240a8" /><Relationship Type="http://schemas.openxmlformats.org/officeDocument/2006/relationships/notesSlide" Target="/ppt/notesSlides/notesSlide6.xml" Id="R9a20346f828a4af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c8e6b83b5f466d" /><Relationship Type="http://schemas.openxmlformats.org/officeDocument/2006/relationships/image" Target="/ppt/media/image6.png" Id="Rc125c774e0004b8e" /><Relationship Type="http://schemas.openxmlformats.org/officeDocument/2006/relationships/image" Target="/ppt/media/image7.png" Id="R18762b3c4ac547e1" /><Relationship Type="http://schemas.openxmlformats.org/officeDocument/2006/relationships/notesSlide" Target="/ppt/notesSlides/notesSlide7.xml" Id="R8d0f42eae82040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e8b5928fd342a9" /><Relationship Type="http://schemas.openxmlformats.org/officeDocument/2006/relationships/image" Target="/ppt/media/image8.png" Id="R17bb8c5f1f4a441a" /><Relationship Type="http://schemas.openxmlformats.org/officeDocument/2006/relationships/notesSlide" Target="/ppt/notesSlides/notesSlide8.xml" Id="Re46df22308c648b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376445a275420e" /><Relationship Type="http://schemas.openxmlformats.org/officeDocument/2006/relationships/image" Target="/ppt/media/image2.svg" Id="R6d08e3cd458d4f40" /><Relationship Type="http://schemas.openxmlformats.org/officeDocument/2006/relationships/image" Target="/ppt/media/image2.png" Id="R617d0656bdfc4cec" /><Relationship Type="http://schemas.openxmlformats.org/officeDocument/2006/relationships/notesSlide" Target="/ppt/notesSlides/notesSlide9.xml" Id="Re48a46064c394ea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a099f17bf45e5" /><Relationship Type="http://schemas.openxmlformats.org/officeDocument/2006/relationships/image" Target="/ppt/media/image9.png" Id="R594764bfbc5e4754" /><Relationship Type="http://schemas.openxmlformats.org/officeDocument/2006/relationships/notesSlide" Target="/ppt/notesSlides/notesSlide10.xml" Id="R08894d467e454a3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a7001526ae4d6d" /><Relationship Type="http://schemas.openxmlformats.org/officeDocument/2006/relationships/notesSlide" Target="/ppt/notesSlides/notesSlide11.xml" Id="Rc5bd4e8ee14b460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2187c954e84dd3" /><Relationship Type="http://schemas.openxmlformats.org/officeDocument/2006/relationships/notesSlide" Target="/ppt/notesSlides/notesSlide12.xml" Id="R6997171ab4f3483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4C5A75-0D8A-449C-8FCC-DBC5B70F88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7817f2286f41b5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429625" y="1571625"/>
            <a:ext cx="2952750" cy="29527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9374FE-022A-49B2-9006-EAA67C194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90675"/>
            <a:ext cx="7239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1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61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Lead Trace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AAD95F-F9BB-4AC4-A7E7-88E4DADD8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895600"/>
            <a:ext cx="742950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925"/>
            </a:defPPr>
            <a:lvl1pPr>
              <a:buNone/>
              <a:defRPr sz="2925"/>
            </a:lvl1pPr>
            <a:lvl2pPr>
              <a:buNone/>
              <a:defRPr sz="2925"/>
            </a:lvl2pPr>
            <a:lvl3pPr>
              <a:buNone/>
              <a:defRPr sz="2925"/>
            </a:lvl3pPr>
            <a:lvl4pPr>
              <a:buNone/>
              <a:defRPr sz="2925"/>
            </a:lvl4pPr>
            <a:lvl5pPr>
              <a:buNone/>
              <a:defRPr sz="2925"/>
            </a:lvl5pPr>
            <a:lvl6pPr>
              <a:buNone/>
              <a:defRPr sz="2925"/>
            </a:lvl6pPr>
            <a:lvl7pPr>
              <a:buNone/>
              <a:defRPr sz="2925"/>
            </a:lvl7pPr>
            <a:lvl8pPr>
              <a:buNone/>
              <a:defRPr sz="2925"/>
            </a:lvl8pPr>
            <a:lvl9pPr>
              <a:buNone/>
              <a:defRPr sz="2925"/>
            </a:lvl9pPr>
          </a:lstStyle>
          <a:p xmlns:a="http://schemas.openxmlformats.org/drawingml/2006/main">
            <a:pPr>
              <a:buNone/>
              <a:defRPr sz="32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Discover prospects.</a:t>
            </a:r>
          </a:p>
          <a:p xmlns:a="http://schemas.openxmlformats.org/drawingml/2006/main">
            <a:pPr>
              <a:buNone/>
              <a:defRPr sz="32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9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Keep sales moving.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F961B9-F03B-47AD-9A36-7FEF4EF83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4743450"/>
            <a:ext cx="106108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/>
            </a:defPPr>
            <a:lvl1pPr>
              <a:buNone/>
              <a:defRPr sz="1875"/>
            </a:lvl1pPr>
            <a:lvl2pPr>
              <a:buNone/>
              <a:defRPr sz="1875"/>
            </a:lvl2pPr>
            <a:lvl3pPr>
              <a:buNone/>
              <a:defRPr sz="1875"/>
            </a:lvl3pPr>
            <a:lvl4pPr>
              <a:buNone/>
              <a:defRPr sz="1875"/>
            </a:lvl4pPr>
            <a:lvl5pPr>
              <a:buNone/>
              <a:defRPr sz="1875"/>
            </a:lvl5pPr>
            <a:lvl6pPr>
              <a:buNone/>
              <a:defRPr sz="1875"/>
            </a:lvl6pPr>
            <a:lvl7pPr>
              <a:buNone/>
              <a:defRPr sz="1875"/>
            </a:lvl7pPr>
            <a:lvl8pPr>
              <a:buNone/>
              <a:defRPr sz="1875"/>
            </a:lvl8pPr>
            <a:lvl9pPr>
              <a:buNone/>
              <a:defRPr sz="1875"/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Lead discovery, a built-in CRM, and cited sales research in one workspace.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423AF4-F652-449E-A811-AC209A023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895975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Current product · 24 October 2026 · leadtrace.online</a:t>
            </a:r>
          </a:p>
        </p:txBody>
      </p:sp>
    </p:spTree>
    <p:extLst>
      <p:ext uri="{BB962C8B-B14F-4D97-AF65-F5344CB8AC3E}">
        <p14:creationId xmlns:p14="http://schemas.microsoft.com/office/powerpoint/2010/main" val="18728747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2B4A75-012D-4924-9FED-186277A3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InsightIQ is now Lead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479AE0-B0C8-46EF-903E-07D7CF3C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4097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We listened to feedback from industry professionals and shaped our next stage around the needs of sales teams.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9EE5FC-8339-41D5-A399-11D256470E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5a33294ae47da"/>
          <a:stretch xmlns:a="http://schemas.openxmlformats.org/drawingml/2006/main"/>
        </p:blipFill>
        <p:spPr>
          <a:xfrm xmlns:a="http://schemas.openxmlformats.org/drawingml/2006/main">
            <a:off x="2524125" y="2667000"/>
            <a:ext cx="1524000" cy="1524000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2E10DB-CC77-4D44-81B1-C21B7A431B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ea2c8689b94652"/>
          <a:stretch xmlns:a="http://schemas.openxmlformats.org/drawingml/2006/main"/>
        </p:blipFill>
        <p:spPr>
          <a:xfrm xmlns:a="http://schemas.openxmlformats.org/drawingml/2006/main">
            <a:off x="8096250" y="2667000"/>
            <a:ext cx="1524000" cy="15240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50BD22-5633-4682-8289-A3B8B5197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209925"/>
            <a:ext cx="952500" cy="3810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868C8"/>
          </a:solidFill>
          <a:ln xmlns:a="http://schemas.openxmlformats.org/drawingml/2006/main" w="0">
            <a:noFill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CAED45-4944-4798-9556-6046BD15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14850"/>
            <a:ext cx="228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InsightIQ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E8E52A-ABAB-446E-A6E3-28335598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514850"/>
            <a:ext cx="285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defRPr>
            </a:pPr>
            <a:r>
              <a:rPr sz="2550" b="1">
                <a:solidFill>
                  <a:srgbClr val="1868C8"/>
                </a:solidFill>
                <a:latin typeface="Helvetica Neue"/>
                <a:ea typeface="Helvetica Neue"/>
                <a:cs typeface="Helvetica Neue"/>
              </a:rPr>
              <a:t>Lead Trace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9AD96D-B5AA-4ABC-813D-6F173CAE7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467350"/>
            <a:ext cx="108775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Industry feedback shaped a connected workflow: discover leads, manage relationships, and prepare with evidence.</a:t>
            </a:r>
          </a:p>
        </p:txBody>
      </p:sp>
    </p:spTree>
    <p:extLst>
      <p:ext uri="{BB962C8B-B14F-4D97-AF65-F5344CB8AC3E}">
        <p14:creationId xmlns:p14="http://schemas.microsoft.com/office/powerpoint/2010/main" val="55303910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1D7BA4-68E8-48C9-B115-A5FC322D4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>
                <a:solidFill>
                  <a:srgbClr val="173B75"/>
                </a:solidFill>
              </a:defRPr>
            </a:defPPr>
            <a:lvl1pPr>
              <a:buNone/>
              <a:defRPr>
                <a:solidFill>
                  <a:srgbClr val="173B75"/>
                </a:solidFill>
              </a:defRPr>
            </a:lvl1pPr>
            <a:lvl2pPr>
              <a:buNone/>
              <a:defRPr>
                <a:solidFill>
                  <a:srgbClr val="173B75"/>
                </a:solidFill>
              </a:defRPr>
            </a:lvl2pPr>
            <a:lvl3pPr>
              <a:buNone/>
              <a:defRPr>
                <a:solidFill>
                  <a:srgbClr val="173B75"/>
                </a:solidFill>
              </a:defRPr>
            </a:lvl3pPr>
            <a:lvl4pPr>
              <a:buNone/>
              <a:defRPr>
                <a:solidFill>
                  <a:srgbClr val="173B75"/>
                </a:solidFill>
              </a:defRPr>
            </a:lvl4pPr>
            <a:lvl5pPr>
              <a:buNone/>
              <a:defRPr>
                <a:solidFill>
                  <a:srgbClr val="173B75"/>
                </a:solidFill>
              </a:defRPr>
            </a:lvl5pPr>
            <a:lvl6pPr>
              <a:buNone/>
              <a:defRPr>
                <a:solidFill>
                  <a:srgbClr val="173B75"/>
                </a:solidFill>
              </a:defRPr>
            </a:lvl6pPr>
            <a:lvl7pPr>
              <a:buNone/>
              <a:defRPr>
                <a:solidFill>
                  <a:srgbClr val="173B75"/>
                </a:solidFill>
              </a:defRPr>
            </a:lvl7pPr>
            <a:lvl8pPr>
              <a:buNone/>
              <a:defRPr>
                <a:solidFill>
                  <a:srgbClr val="173B75"/>
                </a:solidFill>
              </a:defRPr>
            </a:lvl8pPr>
            <a:lvl9pPr>
              <a:buNone/>
              <a:defRPr>
                <a:solidFill>
                  <a:srgbClr val="173B75"/>
                </a:solidFill>
              </a:defRPr>
            </a:lvl9pPr>
          </a:lstStyle>
          <a:p xmlns:a="http://schemas.openxmlformats.org/drawingml/2006/main">
            <a:pPr>
              <a:buNone/>
              <a:defRPr sz="35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A connected sales workflow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9243F6-F365-49C0-8E77-66243CF66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66900"/>
            <a:ext cx="47434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>
                <a:solidFill>
                  <a:srgbClr val="1768C7"/>
                </a:solidFill>
              </a:defRPr>
            </a:defPPr>
            <a:lvl1pPr>
              <a:buNone/>
              <a:defRPr>
                <a:solidFill>
                  <a:srgbClr val="1768C7"/>
                </a:solidFill>
              </a:defRPr>
            </a:lvl1pPr>
            <a:lvl2pPr>
              <a:buNone/>
              <a:defRPr>
                <a:solidFill>
                  <a:srgbClr val="1768C7"/>
                </a:solidFill>
              </a:defRPr>
            </a:lvl2pPr>
            <a:lvl3pPr>
              <a:buNone/>
              <a:defRPr>
                <a:solidFill>
                  <a:srgbClr val="1768C7"/>
                </a:solidFill>
              </a:defRPr>
            </a:lvl3pPr>
            <a:lvl4pPr>
              <a:buNone/>
              <a:defRPr>
                <a:solidFill>
                  <a:srgbClr val="1768C7"/>
                </a:solidFill>
              </a:defRPr>
            </a:lvl4pPr>
            <a:lvl5pPr>
              <a:buNone/>
              <a:defRPr>
                <a:solidFill>
                  <a:srgbClr val="1768C7"/>
                </a:solidFill>
              </a:defRPr>
            </a:lvl5pPr>
            <a:lvl6pPr>
              <a:buNone/>
              <a:defRPr>
                <a:solidFill>
                  <a:srgbClr val="1768C7"/>
                </a:solidFill>
              </a:defRPr>
            </a:lvl6pPr>
            <a:lvl7pPr>
              <a:buNone/>
              <a:defRPr>
                <a:solidFill>
                  <a:srgbClr val="1768C7"/>
                </a:solidFill>
              </a:defRPr>
            </a:lvl7pPr>
            <a:lvl8pPr>
              <a:buNone/>
              <a:defRPr>
                <a:solidFill>
                  <a:srgbClr val="1768C7"/>
                </a:solidFill>
              </a:defRPr>
            </a:lvl8pPr>
            <a:lvl9pPr>
              <a:buNone/>
              <a:defRPr>
                <a:solidFill>
                  <a:srgbClr val="1768C7"/>
                </a:solidFill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For people who sell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36C3A6-A0FA-44A0-B50C-E2BD6D48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590800"/>
            <a:ext cx="47625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>
                <a:solidFill>
                  <a:srgbClr val="173B75"/>
                </a:solidFill>
              </a:defRPr>
            </a:defPPr>
            <a:lvl1pPr>
              <a:buNone/>
              <a:defRPr>
                <a:solidFill>
                  <a:srgbClr val="173B75"/>
                </a:solidFill>
              </a:defRPr>
            </a:lvl1pPr>
            <a:lvl2pPr>
              <a:buNone/>
              <a:defRPr>
                <a:solidFill>
                  <a:srgbClr val="173B75"/>
                </a:solidFill>
              </a:defRPr>
            </a:lvl2pPr>
            <a:lvl3pPr>
              <a:buNone/>
              <a:defRPr>
                <a:solidFill>
                  <a:srgbClr val="173B75"/>
                </a:solidFill>
              </a:defRPr>
            </a:lvl3pPr>
            <a:lvl4pPr>
              <a:buNone/>
              <a:defRPr>
                <a:solidFill>
                  <a:srgbClr val="173B75"/>
                </a:solidFill>
              </a:defRPr>
            </a:lvl4pPr>
            <a:lvl5pPr>
              <a:buNone/>
              <a:defRPr>
                <a:solidFill>
                  <a:srgbClr val="173B75"/>
                </a:solidFill>
              </a:defRPr>
            </a:lvl5pPr>
            <a:lvl6pPr>
              <a:buNone/>
              <a:defRPr>
                <a:solidFill>
                  <a:srgbClr val="173B75"/>
                </a:solidFill>
              </a:defRPr>
            </a:lvl6pPr>
            <a:lvl7pPr>
              <a:buNone/>
              <a:defRPr>
                <a:solidFill>
                  <a:srgbClr val="173B75"/>
                </a:solidFill>
              </a:defRPr>
            </a:lvl7pPr>
            <a:lvl8pPr>
              <a:buNone/>
              <a:defRPr>
                <a:solidFill>
                  <a:srgbClr val="173B75"/>
                </a:solidFill>
              </a:defRPr>
            </a:lvl8pPr>
            <a:lvl9pPr>
              <a:buNone/>
              <a:defRPr>
                <a:solidFill>
                  <a:srgbClr val="173B75"/>
                </a:solidFill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B2B sales teams</a:t>
            </a:r>
          </a:p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Agencies pitching clients</a:t>
            </a:r>
          </a:p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Founders finding customers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5AE6E6-C662-4637-8138-3EBC08F24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66900"/>
            <a:ext cx="514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>
                <a:solidFill>
                  <a:srgbClr val="1768C7"/>
                </a:solidFill>
              </a:defRPr>
            </a:defPPr>
            <a:lvl1pPr>
              <a:buNone/>
              <a:defRPr>
                <a:solidFill>
                  <a:srgbClr val="1768C7"/>
                </a:solidFill>
              </a:defRPr>
            </a:lvl1pPr>
            <a:lvl2pPr>
              <a:buNone/>
              <a:defRPr>
                <a:solidFill>
                  <a:srgbClr val="1768C7"/>
                </a:solidFill>
              </a:defRPr>
            </a:lvl2pPr>
            <a:lvl3pPr>
              <a:buNone/>
              <a:defRPr>
                <a:solidFill>
                  <a:srgbClr val="1768C7"/>
                </a:solidFill>
              </a:defRPr>
            </a:lvl3pPr>
            <a:lvl4pPr>
              <a:buNone/>
              <a:defRPr>
                <a:solidFill>
                  <a:srgbClr val="1768C7"/>
                </a:solidFill>
              </a:defRPr>
            </a:lvl4pPr>
            <a:lvl5pPr>
              <a:buNone/>
              <a:defRPr>
                <a:solidFill>
                  <a:srgbClr val="1768C7"/>
                </a:solidFill>
              </a:defRPr>
            </a:lvl5pPr>
            <a:lvl6pPr>
              <a:buNone/>
              <a:defRPr>
                <a:solidFill>
                  <a:srgbClr val="1768C7"/>
                </a:solidFill>
              </a:defRPr>
            </a:lvl6pPr>
            <a:lvl7pPr>
              <a:buNone/>
              <a:defRPr>
                <a:solidFill>
                  <a:srgbClr val="1768C7"/>
                </a:solidFill>
              </a:defRPr>
            </a:lvl7pPr>
            <a:lvl8pPr>
              <a:buNone/>
              <a:defRPr>
                <a:solidFill>
                  <a:srgbClr val="1768C7"/>
                </a:solidFill>
              </a:defRPr>
            </a:lvl8pPr>
            <a:lvl9pPr>
              <a:buNone/>
              <a:defRPr>
                <a:solidFill>
                  <a:srgbClr val="1768C7"/>
                </a:solidFill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Questions the workspace answers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753819-FFAA-43A4-A358-F536BC71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90800"/>
            <a:ext cx="5143500" cy="2028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>
                <a:solidFill>
                  <a:srgbClr val="173B75"/>
                </a:solidFill>
              </a:defRPr>
            </a:defPPr>
            <a:lvl1pPr>
              <a:buNone/>
              <a:defRPr>
                <a:solidFill>
                  <a:srgbClr val="173B75"/>
                </a:solidFill>
              </a:defRPr>
            </a:lvl1pPr>
            <a:lvl2pPr>
              <a:buNone/>
              <a:defRPr>
                <a:solidFill>
                  <a:srgbClr val="173B75"/>
                </a:solidFill>
              </a:defRPr>
            </a:lvl2pPr>
            <a:lvl3pPr>
              <a:buNone/>
              <a:defRPr>
                <a:solidFill>
                  <a:srgbClr val="173B75"/>
                </a:solidFill>
              </a:defRPr>
            </a:lvl3pPr>
            <a:lvl4pPr>
              <a:buNone/>
              <a:defRPr>
                <a:solidFill>
                  <a:srgbClr val="173B75"/>
                </a:solidFill>
              </a:defRPr>
            </a:lvl4pPr>
            <a:lvl5pPr>
              <a:buNone/>
              <a:defRPr>
                <a:solidFill>
                  <a:srgbClr val="173B75"/>
                </a:solidFill>
              </a:defRPr>
            </a:lvl5pPr>
            <a:lvl6pPr>
              <a:buNone/>
              <a:defRPr>
                <a:solidFill>
                  <a:srgbClr val="173B75"/>
                </a:solidFill>
              </a:defRPr>
            </a:lvl6pPr>
            <a:lvl7pPr>
              <a:buNone/>
              <a:defRPr>
                <a:solidFill>
                  <a:srgbClr val="173B75"/>
                </a:solidFill>
              </a:defRPr>
            </a:lvl7pPr>
            <a:lvl8pPr>
              <a:buNone/>
              <a:defRPr>
                <a:solidFill>
                  <a:srgbClr val="173B75"/>
                </a:solidFill>
              </a:defRPr>
            </a:lvl8pPr>
            <a:lvl9pPr>
              <a:buNone/>
              <a:defRPr>
                <a:solidFill>
                  <a:srgbClr val="173B75"/>
                </a:solidFill>
              </a:defRPr>
            </a:lvl9pPr>
          </a:lstStyle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Who fits our buyer profile?</a:t>
            </a:r>
          </a:p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What should happen next?</a:t>
            </a:r>
          </a:p>
          <a:p xmlns:a="http://schemas.openxmlformats.org/drawingml/2006/main">
            <a:pPr>
              <a:buNone/>
              <a:defRPr sz="2325" b="0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Which evidence supports the brief?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798C74-91A6-4A30-B5C8-2BD21D6A9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267325"/>
            <a:ext cx="108966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>
                <a:solidFill>
                  <a:srgbClr val="173B75"/>
                </a:solidFill>
              </a:defRPr>
            </a:defPPr>
            <a:lvl1pPr>
              <a:buNone/>
              <a:defRPr>
                <a:solidFill>
                  <a:srgbClr val="173B75"/>
                </a:solidFill>
              </a:defRPr>
            </a:lvl1pPr>
            <a:lvl2pPr>
              <a:buNone/>
              <a:defRPr>
                <a:solidFill>
                  <a:srgbClr val="173B75"/>
                </a:solidFill>
              </a:defRPr>
            </a:lvl2pPr>
            <a:lvl3pPr>
              <a:buNone/>
              <a:defRPr>
                <a:solidFill>
                  <a:srgbClr val="173B75"/>
                </a:solidFill>
              </a:defRPr>
            </a:lvl3pPr>
            <a:lvl4pPr>
              <a:buNone/>
              <a:defRPr>
                <a:solidFill>
                  <a:srgbClr val="173B75"/>
                </a:solidFill>
              </a:defRPr>
            </a:lvl4pPr>
            <a:lvl5pPr>
              <a:buNone/>
              <a:defRPr>
                <a:solidFill>
                  <a:srgbClr val="173B75"/>
                </a:solidFill>
              </a:defRPr>
            </a:lvl5pPr>
            <a:lvl6pPr>
              <a:buNone/>
              <a:defRPr>
                <a:solidFill>
                  <a:srgbClr val="173B75"/>
                </a:solidFill>
              </a:defRPr>
            </a:lvl6pPr>
            <a:lvl7pPr>
              <a:buNone/>
              <a:defRPr>
                <a:solidFill>
                  <a:srgbClr val="173B75"/>
                </a:solidFill>
              </a:defRPr>
            </a:lvl7pPr>
            <a:lvl8pPr>
              <a:buNone/>
              <a:defRPr>
                <a:solidFill>
                  <a:srgbClr val="173B75"/>
                </a:solidFill>
              </a:defRPr>
            </a:lvl8pPr>
            <a:lvl9pPr>
              <a:buNone/>
              <a:defRPr>
                <a:solidFill>
                  <a:srgbClr val="173B75"/>
                </a:solidFill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32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Keep discovery, CRM, and preparation connected.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43C3C-7F7E-4BD6-A80E-D95EFC98C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905500"/>
            <a:ext cx="10896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>
                <a:solidFill>
                  <a:srgbClr val="1768C7"/>
                </a:solidFill>
              </a:defRPr>
            </a:defPPr>
            <a:lvl1pPr>
              <a:buNone/>
              <a:defRPr>
                <a:solidFill>
                  <a:srgbClr val="1768C7"/>
                </a:solidFill>
              </a:defRPr>
            </a:lvl1pPr>
            <a:lvl2pPr>
              <a:buNone/>
              <a:defRPr>
                <a:solidFill>
                  <a:srgbClr val="1768C7"/>
                </a:solidFill>
              </a:defRPr>
            </a:lvl2pPr>
            <a:lvl3pPr>
              <a:buNone/>
              <a:defRPr>
                <a:solidFill>
                  <a:srgbClr val="1768C7"/>
                </a:solidFill>
              </a:defRPr>
            </a:lvl3pPr>
            <a:lvl4pPr>
              <a:buNone/>
              <a:defRPr>
                <a:solidFill>
                  <a:srgbClr val="1768C7"/>
                </a:solidFill>
              </a:defRPr>
            </a:lvl4pPr>
            <a:lvl5pPr>
              <a:buNone/>
              <a:defRPr>
                <a:solidFill>
                  <a:srgbClr val="1768C7"/>
                </a:solidFill>
              </a:defRPr>
            </a:lvl5pPr>
            <a:lvl6pPr>
              <a:buNone/>
              <a:defRPr>
                <a:solidFill>
                  <a:srgbClr val="1768C7"/>
                </a:solidFill>
              </a:defRPr>
            </a:lvl6pPr>
            <a:lvl7pPr>
              <a:buNone/>
              <a:defRPr>
                <a:solidFill>
                  <a:srgbClr val="1768C7"/>
                </a:solidFill>
              </a:defRPr>
            </a:lvl7pPr>
            <a:lvl8pPr>
              <a:buNone/>
              <a:defRPr>
                <a:solidFill>
                  <a:srgbClr val="1768C7"/>
                </a:solidFill>
              </a:defRPr>
            </a:lvl8pPr>
            <a:lvl9pPr>
              <a:buNone/>
              <a:defRPr>
                <a:solidFill>
                  <a:srgbClr val="1768C7"/>
                </a:solidFill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Source quotes support review. Follow-ups keep the next action visible.</a:t>
            </a:r>
          </a:p>
        </p:txBody>
      </p:sp>
    </p:spTree>
    <p:extLst>
      <p:ext uri="{BB962C8B-B14F-4D97-AF65-F5344CB8AC3E}">
        <p14:creationId xmlns:p14="http://schemas.microsoft.com/office/powerpoint/2010/main" val="3085084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6A7CD5-AE24-457D-8835-636D3532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733425"/>
            <a:ext cx="5000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Find leads</a:t>
            </a:r>
          </a:p>
          <a:p xmlns:a="http://schemas.openxmlformats.org/drawingml/2006/main">
            <a:pPr>
              <a:buNone/>
              <a:def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97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with evidence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C5DDAC-5FD2-45AA-9A4B-0F2FC99DA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62225"/>
            <a:ext cx="4476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Start with a buyer profile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FFE550-10A4-48A0-B1D6-EAF2E7AAD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286125"/>
            <a:ext cx="4438650" cy="1438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Search companies, then people.</a:t>
            </a:r>
          </a:p>
          <a:p xmlns:a="http://schemas.openxmlformats.org/drawingml/2006/main">
            <a:pPr>
              <a:buNone/>
              <a:def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Check role, industry, and</a:t>
            </a:r>
          </a:p>
          <a:p xmlns:a="http://schemas.openxmlformats.org/drawingml/2006/main">
            <a:pPr>
              <a:buNone/>
              <a:def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location evidence before saving.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49F54F-CB39-4130-A33F-A02DCBF5439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bbbd4bd2e346cc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476875" y="1657350"/>
            <a:ext cx="6191250" cy="4000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A9ECBC-C4EA-470F-9450-6D48B8708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5657850"/>
            <a:ext cx="5953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Search, full-page reads, and site crawls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857EDA-26E0-4874-9FBA-6B3A1350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6115050"/>
            <a:ext cx="5953125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1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GLEIF · Wikidata · SEC EDGAR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331DB7-8DB1-4C89-8AC3-E2F4B8FCE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5450" y="65722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2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2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2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2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2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2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2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2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2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Fictional demonstration workspace</a:t>
            </a:r>
          </a:p>
        </p:txBody>
      </p:sp>
    </p:spTree>
    <p:extLst>
      <p:ext uri="{BB962C8B-B14F-4D97-AF65-F5344CB8AC3E}">
        <p14:creationId xmlns:p14="http://schemas.microsoft.com/office/powerpoint/2010/main" val="77435200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Lead Trace">
            <a:extLst xmlns:a="http://schemas.openxmlformats.org/drawingml/2006/main">
              <a:ext uri="{FF2B5EF4-FFF2-40B4-BE49-F238E27FC236}">
                <a16:creationId xmlns:a16="http://schemas.microsoft.com/office/drawing/2014/main" id="{CEB41EEA-0588-44CC-BA0F-65FB3F57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Lead Trace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708B57-BD8E-46A8-B3E0-2DB4E27A2CF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78ab48a33e4ba4">
            <a:extLst>
              <a:ext uri="{96DAC541-7B7A-43D3-8B79-37D633B846F1}">
                <asvg:svgBlip xmlns:asvg="http://schemas.microsoft.com/office/drawing/2016/SVG/main" r:embed="R5c0e6d95b37a4f4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10900" y="266700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3" name="Discovery to the next sales action">
            <a:extLst xmlns:a="http://schemas.openxmlformats.org/drawingml/2006/main">
              <a:ext uri="{FF2B5EF4-FFF2-40B4-BE49-F238E27FC236}">
                <a16:creationId xmlns:a16="http://schemas.microsoft.com/office/drawing/2014/main" id="{56FC5BEE-9C0A-4FF0-9476-0511ECEB7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Discovery to the next sales action</a:t>
            </a:r>
          </a:p>
        </p:txBody>
      </p:sp>
      <p:sp>
        <p:nvSpPr>
          <p:cNvPr id="4" name="From buyer profile to the next action, with source evid">
            <a:extLst xmlns:a="http://schemas.openxmlformats.org/drawingml/2006/main">
              <a:ext uri="{FF2B5EF4-FFF2-40B4-BE49-F238E27FC236}">
                <a16:creationId xmlns:a16="http://schemas.microsoft.com/office/drawing/2014/main" id="{A1B136D1-FEB4-41B8-A492-AAD376E0D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rPr>
              <a:t>From buyer profile to the next action, with source evidence attached</a:t>
            </a:r>
          </a:p>
        </p:txBody>
      </p:sp>
      <p:cxnSp>
        <p:nvCxnSpPr>
          <p:cNvPr id="5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62994324-3843-4D8A-8568-51A798B9956E}"/>
              </a:ext>
            </a:extLst>
          </p:cNvPr>
          <p:cNvCxnSpPr/>
          <p:nvPr/>
        </p:nvCxnSpPr>
        <p:spPr>
          <a:xfrm xmlns:a="http://schemas.openxmlformats.org/drawingml/2006/main">
            <a:off x="2533650" y="35528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  <a:tailEnd type="triangle" w="med" len="med"/>
          </a:ln>
        </p:spPr>
      </p:cxnSp>
      <p:cxnSp>
        <p:nvCxnSpPr>
          <p:cNvPr id="6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444BCB25-56B4-4657-A906-2E6403EF308E}"/>
              </a:ext>
            </a:extLst>
          </p:cNvPr>
          <p:cNvCxnSpPr/>
          <p:nvPr/>
        </p:nvCxnSpPr>
        <p:spPr>
          <a:xfrm xmlns:a="http://schemas.openxmlformats.org/drawingml/2006/main">
            <a:off x="4800600" y="35528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  <a:tailEnd type="triangle" w="med" len="med"/>
          </a:ln>
        </p:spPr>
      </p:cxnSp>
      <p:cxnSp>
        <p:nvCxnSpPr>
          <p:cNvPr id="7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CFB41D16-00B5-4345-9A31-C1872CF2B827}"/>
              </a:ext>
            </a:extLst>
          </p:cNvPr>
          <p:cNvCxnSpPr/>
          <p:nvPr/>
        </p:nvCxnSpPr>
        <p:spPr>
          <a:xfrm xmlns:a="http://schemas.openxmlformats.org/drawingml/2006/main">
            <a:off x="7067550" y="35528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  <a:tailEnd type="triangle" w="med" len="med"/>
          </a:ln>
        </p:spPr>
      </p:cxnSp>
      <p:cxnSp>
        <p:nvCxnSpPr>
          <p:cNvPr id="8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5ADE8E08-242B-44F7-B3DE-44939F3943F3}"/>
              </a:ext>
            </a:extLst>
          </p:cNvPr>
          <p:cNvCxnSpPr/>
          <p:nvPr/>
        </p:nvCxnSpPr>
        <p:spPr>
          <a:xfrm xmlns:a="http://schemas.openxmlformats.org/drawingml/2006/main">
            <a:off x="9334500" y="3552825"/>
            <a:ext cx="3429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  <a:tailEnd type="triangle" w="med" len="med"/>
          </a:ln>
        </p:spPr>
      </p:cxnSp>
      <p:sp>
        <p:nvSpPr>
          <p:cNvPr id="9" name="01  Discover rectangle">
            <a:extLst xmlns:a="http://schemas.openxmlformats.org/drawingml/2006/main">
              <a:ext uri="{FF2B5EF4-FFF2-40B4-BE49-F238E27FC236}">
                <a16:creationId xmlns:a16="http://schemas.microsoft.com/office/drawing/2014/main" id="{45B02A51-B835-4384-ABF4-47D00CB1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19240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C4DAF5"/>
            </a:solidFill>
          </a:ln>
        </p:spPr>
      </p:sp>
      <p:sp>
        <p:nvSpPr>
          <p:cNvPr id="10" name="01  Discover">
            <a:extLst xmlns:a="http://schemas.openxmlformats.org/drawingml/2006/main">
              <a:ext uri="{FF2B5EF4-FFF2-40B4-BE49-F238E27FC236}">
                <a16:creationId xmlns:a16="http://schemas.microsoft.com/office/drawing/2014/main" id="{1566BC91-271A-41DD-B7DE-EA8B662B9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1581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01  Discover</a:t>
            </a:r>
          </a:p>
        </p:txBody>
      </p:sp>
      <p:sp>
        <p:nvSpPr>
          <p:cNvPr id="11" name="Buyer profile&#10;and sourced&#10;companies">
            <a:extLst xmlns:a="http://schemas.openxmlformats.org/drawingml/2006/main">
              <a:ext uri="{FF2B5EF4-FFF2-40B4-BE49-F238E27FC236}">
                <a16:creationId xmlns:a16="http://schemas.microsoft.com/office/drawing/2014/main" id="{4AFFC8CE-A615-4472-9985-A7D1603C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81350"/>
            <a:ext cx="1581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Buyer profile</a:t>
            </a:r>
          </a:p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and sourced</a:t>
            </a:r>
          </a:p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companies</a:t>
            </a:r>
          </a:p>
        </p:txBody>
      </p:sp>
      <p:sp>
        <p:nvSpPr>
          <p:cNvPr id="12" name="02  Review rectangle">
            <a:extLst xmlns:a="http://schemas.openxmlformats.org/drawingml/2006/main">
              <a:ext uri="{FF2B5EF4-FFF2-40B4-BE49-F238E27FC236}">
                <a16:creationId xmlns:a16="http://schemas.microsoft.com/office/drawing/2014/main" id="{96EF3F3F-128E-4DC1-816E-4A6BA0AA5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667000"/>
            <a:ext cx="19240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C4DAF5"/>
            </a:solidFill>
          </a:ln>
        </p:spPr>
      </p:sp>
      <p:sp>
        <p:nvSpPr>
          <p:cNvPr id="13" name="02  Review">
            <a:extLst xmlns:a="http://schemas.openxmlformats.org/drawingml/2006/main">
              <a:ext uri="{FF2B5EF4-FFF2-40B4-BE49-F238E27FC236}">
                <a16:creationId xmlns:a16="http://schemas.microsoft.com/office/drawing/2014/main" id="{79148DB8-D59F-4818-BB17-5017C466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2800350"/>
            <a:ext cx="1581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02  Review</a:t>
            </a:r>
          </a:p>
        </p:txBody>
      </p:sp>
      <p:sp>
        <p:nvSpPr>
          <p:cNvPr id="14" name="Current role,&#10;buyer-fit evidence,&#10;and qualification">
            <a:extLst xmlns:a="http://schemas.openxmlformats.org/drawingml/2006/main">
              <a:ext uri="{FF2B5EF4-FFF2-40B4-BE49-F238E27FC236}">
                <a16:creationId xmlns:a16="http://schemas.microsoft.com/office/drawing/2014/main" id="{67308318-C0AB-46D7-909F-D1ABC0A8D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3181350"/>
            <a:ext cx="1581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Current role,</a:t>
            </a:r>
          </a:p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buyer-fit evidence,</a:t>
            </a:r>
          </a:p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and qualification</a:t>
            </a:r>
          </a:p>
        </p:txBody>
      </p:sp>
      <p:sp>
        <p:nvSpPr>
          <p:cNvPr id="15" name="03  Save rectangle">
            <a:extLst xmlns:a="http://schemas.openxmlformats.org/drawingml/2006/main">
              <a:ext uri="{FF2B5EF4-FFF2-40B4-BE49-F238E27FC236}">
                <a16:creationId xmlns:a16="http://schemas.microsoft.com/office/drawing/2014/main" id="{78C850B9-06F5-40E9-B593-ADA9FEEFA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67000"/>
            <a:ext cx="19240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C4DAF5"/>
            </a:solidFill>
          </a:ln>
        </p:spPr>
      </p:sp>
      <p:sp>
        <p:nvSpPr>
          <p:cNvPr id="16" name="03  Save">
            <a:extLst xmlns:a="http://schemas.openxmlformats.org/drawingml/2006/main">
              <a:ext uri="{FF2B5EF4-FFF2-40B4-BE49-F238E27FC236}">
                <a16:creationId xmlns:a16="http://schemas.microsoft.com/office/drawing/2014/main" id="{A27E69E8-B90A-4E0A-A97D-EF28BD7FA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00350"/>
            <a:ext cx="1581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03  Save</a:t>
            </a:r>
          </a:p>
        </p:txBody>
      </p:sp>
      <p:sp>
        <p:nvSpPr>
          <p:cNvPr id="17" name="Reviewed lead&#10;becomes a&#10;CRM contact">
            <a:extLst xmlns:a="http://schemas.openxmlformats.org/drawingml/2006/main">
              <a:ext uri="{FF2B5EF4-FFF2-40B4-BE49-F238E27FC236}">
                <a16:creationId xmlns:a16="http://schemas.microsoft.com/office/drawing/2014/main" id="{6F75A8F8-EC81-4D70-BBB8-9299DD88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181350"/>
            <a:ext cx="1581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Reviewed lead</a:t>
            </a:r>
          </a:p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becomes a</a:t>
            </a:r>
          </a:p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CRM contact</a:t>
            </a:r>
          </a:p>
        </p:txBody>
      </p:sp>
      <p:sp>
        <p:nvSpPr>
          <p:cNvPr id="18" name="04  Prepare rectangle">
            <a:extLst xmlns:a="http://schemas.openxmlformats.org/drawingml/2006/main">
              <a:ext uri="{FF2B5EF4-FFF2-40B4-BE49-F238E27FC236}">
                <a16:creationId xmlns:a16="http://schemas.microsoft.com/office/drawing/2014/main" id="{AF66CAA4-5EBC-4847-BCAA-3B7A1E986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67000"/>
            <a:ext cx="19240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C4DAF5"/>
            </a:solidFill>
          </a:ln>
        </p:spPr>
      </p:sp>
      <p:sp>
        <p:nvSpPr>
          <p:cNvPr id="19" name="04  Prepare">
            <a:extLst xmlns:a="http://schemas.openxmlformats.org/drawingml/2006/main">
              <a:ext uri="{FF2B5EF4-FFF2-40B4-BE49-F238E27FC236}">
                <a16:creationId xmlns:a16="http://schemas.microsoft.com/office/drawing/2014/main" id="{DD4FFA72-A6B3-446C-99C6-B5ACED0F9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2800350"/>
            <a:ext cx="1581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04  Prepare</a:t>
            </a:r>
          </a:p>
        </p:txBody>
      </p:sp>
      <p:sp>
        <p:nvSpPr>
          <p:cNvPr id="20" name="Offer context&#10;and a cited&#10;conversation brief">
            <a:extLst xmlns:a="http://schemas.openxmlformats.org/drawingml/2006/main">
              <a:ext uri="{FF2B5EF4-FFF2-40B4-BE49-F238E27FC236}">
                <a16:creationId xmlns:a16="http://schemas.microsoft.com/office/drawing/2014/main" id="{07357A8B-A5CC-4E76-B35B-DA88722E7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181350"/>
            <a:ext cx="1581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Offer context</a:t>
            </a:r>
          </a:p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and a cited</a:t>
            </a:r>
          </a:p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conversation brief</a:t>
            </a:r>
          </a:p>
        </p:txBody>
      </p:sp>
      <p:sp>
        <p:nvSpPr>
          <p:cNvPr id="21" name="05  Act rectangle">
            <a:extLst xmlns:a="http://schemas.openxmlformats.org/drawingml/2006/main">
              <a:ext uri="{FF2B5EF4-FFF2-40B4-BE49-F238E27FC236}">
                <a16:creationId xmlns:a16="http://schemas.microsoft.com/office/drawing/2014/main" id="{12AB3395-DFC4-4E24-A429-6081035B7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67000"/>
            <a:ext cx="1924050" cy="17716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C4DAF5"/>
            </a:solidFill>
          </a:ln>
        </p:spPr>
      </p:sp>
      <p:sp>
        <p:nvSpPr>
          <p:cNvPr id="22" name="05  Act">
            <a:extLst xmlns:a="http://schemas.openxmlformats.org/drawingml/2006/main">
              <a:ext uri="{FF2B5EF4-FFF2-40B4-BE49-F238E27FC236}">
                <a16:creationId xmlns:a16="http://schemas.microsoft.com/office/drawing/2014/main" id="{E7A101BE-58D3-4BEA-A574-EBC38597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00350"/>
            <a:ext cx="15811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05  Act</a:t>
            </a:r>
          </a:p>
        </p:txBody>
      </p:sp>
      <p:sp>
        <p:nvSpPr>
          <p:cNvPr id="23" name="Deal, note,&#10;follow-up, or&#10;Calendar meeting">
            <a:extLst xmlns:a="http://schemas.openxmlformats.org/drawingml/2006/main">
              <a:ext uri="{FF2B5EF4-FFF2-40B4-BE49-F238E27FC236}">
                <a16:creationId xmlns:a16="http://schemas.microsoft.com/office/drawing/2014/main" id="{1ADC177E-A693-42B4-A324-B93220FD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81350"/>
            <a:ext cx="15811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Deal, note,</a:t>
            </a:r>
          </a:p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follow-up, or</a:t>
            </a:r>
          </a:p>
          <a:p xmlns:a="http://schemas.openxmlformats.org/drawingml/2006/main">
            <a:pPr>
              <a:buNone/>
              <a:def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Calendar meeting</a:t>
            </a:r>
          </a:p>
        </p:txBody>
      </p:sp>
      <p:sp>
        <p:nvSpPr>
          <p:cNvPr id="24" name="Evidence stays attached when a reviewed lead becomes a ">
            <a:extLst xmlns:a="http://schemas.openxmlformats.org/drawingml/2006/main">
              <a:ext uri="{FF2B5EF4-FFF2-40B4-BE49-F238E27FC236}">
                <a16:creationId xmlns:a16="http://schemas.microsoft.com/office/drawing/2014/main" id="{D692037F-D349-48A1-BE6C-F1662F6AD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Evidence stays attached when a reviewed lead becomes a CRM contact.</a:t>
            </a:r>
          </a:p>
        </p:txBody>
      </p:sp>
      <p:sp>
        <p:nvSpPr>
          <p:cNvPr id="25" name="leadtrace.online">
            <a:extLst xmlns:a="http://schemas.openxmlformats.org/drawingml/2006/main">
              <a:ext uri="{FF2B5EF4-FFF2-40B4-BE49-F238E27FC236}">
                <a16:creationId xmlns:a16="http://schemas.microsoft.com/office/drawing/2014/main" id="{9D304CC4-E835-42A3-94A6-791938947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rPr>
              <a:t>leadtrace.online</a:t>
            </a:r>
          </a:p>
        </p:txBody>
      </p:sp>
    </p:spTree>
    <p:extLst>
      <p:ext uri="{BB962C8B-B14F-4D97-AF65-F5344CB8AC3E}">
        <p14:creationId xmlns:p14="http://schemas.microsoft.com/office/powerpoint/2010/main" val="10643182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11C953-25D8-4A72-94D9-7FA81C39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CRM built around the next action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6ADCD-9F2B-40C4-9039-C39F148219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41c3e7eba240a8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42925" y="1666875"/>
            <a:ext cx="7991475" cy="44958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4B3D26-960D-4EE6-9561-80539284A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1809750"/>
            <a:ext cx="2619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Contact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EBDED9-B7B0-4396-8DB1-3AEC41045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343150"/>
            <a:ext cx="2619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Keep ownership, notes, and research with the person.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95551F-3E43-4BDB-8B00-99CE6415D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38525"/>
            <a:ext cx="2619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Deal tracking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8ED9A-9505-482C-9495-930128A2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62400"/>
            <a:ext cx="26193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Track stage, value, currency, and expected close.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45E354-F539-4A0C-A96E-733686BC0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229225"/>
            <a:ext cx="2619375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Next action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849976-896E-48F3-8FF4-10B5E1151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62625"/>
            <a:ext cx="2619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7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Set a follow-up or schedule a meeting.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F0F5DB-5D77-47D1-A93F-4E17D3ABF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457950"/>
            <a:ext cx="762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3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Fictional demonstration data</a:t>
            </a:r>
          </a:p>
        </p:txBody>
      </p:sp>
    </p:spTree>
    <p:extLst>
      <p:ext uri="{BB962C8B-B14F-4D97-AF65-F5344CB8AC3E}">
        <p14:creationId xmlns:p14="http://schemas.microsoft.com/office/powerpoint/2010/main" val="38162828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C71B2A-79F5-4A80-8C79-37EFD91E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Pipeline and follow-ups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BF3253-BEA8-4D6C-93A1-F45F9319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3049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Track the opportunity and the next action in the same workspace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1D1B55-8B69-45CA-A375-DBB0F4E83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114550"/>
            <a:ext cx="5191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Board and Table views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0F4984-F9EF-4D52-A05D-6FAA9CC1F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14550"/>
            <a:ext cx="523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00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Due today, overdue, or upcoming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295D30-3362-4365-AE3C-791E7DA16C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25c774e0004b8e"/>
          <a:stretch xmlns:a="http://schemas.openxmlformats.org/drawingml/2006/main"/>
        </p:blipFill>
        <p:spPr>
          <a:xfrm xmlns:a="http://schemas.openxmlformats.org/drawingml/2006/main">
            <a:off x="907256" y="2714625"/>
            <a:ext cx="4643438" cy="309562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C95E9C-852B-4C54-9E7A-C114809C0E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762b3c4ac547e1"/>
          <a:stretch xmlns:a="http://schemas.openxmlformats.org/drawingml/2006/main"/>
        </p:blipFill>
        <p:spPr>
          <a:xfrm xmlns:a="http://schemas.openxmlformats.org/drawingml/2006/main">
            <a:off x="6565106" y="2714625"/>
            <a:ext cx="4643438" cy="3095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DE228C-4F90-428D-9217-B0CEA0A5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594360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80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80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80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80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80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80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80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80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80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1800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Deal stages, ownership, and value remain visible. Completed follow-ups can be reopened.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F2124F-0A76-4A04-B853-7A74BB937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477000"/>
            <a:ext cx="10858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2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2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2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2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2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2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2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2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2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2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2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Fictional demonstration data. Follow-ups are tracked actions; automatic reminders are not implemented.</a:t>
            </a:r>
          </a:p>
        </p:txBody>
      </p:sp>
    </p:spTree>
    <p:extLst>
      <p:ext uri="{BB962C8B-B14F-4D97-AF65-F5344CB8AC3E}">
        <p14:creationId xmlns:p14="http://schemas.microsoft.com/office/powerpoint/2010/main" val="6198941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C1C47D-CEA3-474E-A0A2-807683752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9100"/>
            <a:ext cx="11144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8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8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Cited research for the next conversation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351B23-7FFF-46DE-9C14-A1AA59D9E91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bb8c5f1f4a441a"/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04825" y="1657350"/>
            <a:ext cx="7591425" cy="42005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D65A8C-22FB-4D55-9E22-3C4C793A0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704975"/>
            <a:ext cx="314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Inspect the source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8D1E0BD-D389-4AC8-BC91-4C8003E11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447925"/>
            <a:ext cx="3152775" cy="1343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Each key signal links to its stored claim and source URL.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2A85CC-DC6B-49E1-9DC9-04E9C5980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210050"/>
            <a:ext cx="3143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Review and reuse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4D6593-7AB4-469B-8F0D-CD556D11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914900"/>
            <a:ext cx="314325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Check gaps, adapt the </a:t>
            </a:r>
            <a:r>
              <a: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outreach message</a:t>
            </a:r>
            <a:r>
              <a:rPr sz="2025" b="0">
                <a:solidFill>
                  <a:srgbClr val="123363"/>
                </a:solidFill>
                <a:latin typeface="Helvetica Neue"/>
                <a:ea typeface="Helvetica Neue"/>
                <a:cs typeface="Helvetica Neue"/>
              </a:rPr>
              <a:t>, then copy or export.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76CFB-D60A-4ADE-9133-988383E9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6381750"/>
            <a:ext cx="11049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Fictional demo data. A source claim, a hypothesis, and a question stay distinct.</a:t>
            </a:r>
          </a:p>
        </p:txBody>
      </p:sp>
    </p:spTree>
    <p:extLst>
      <p:ext uri="{BB962C8B-B14F-4D97-AF65-F5344CB8AC3E}">
        <p14:creationId xmlns:p14="http://schemas.microsoft.com/office/powerpoint/2010/main" val="9803444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Lead Trace">
            <a:extLst xmlns:a="http://schemas.openxmlformats.org/drawingml/2006/main">
              <a:ext uri="{FF2B5EF4-FFF2-40B4-BE49-F238E27FC236}">
                <a16:creationId xmlns:a16="http://schemas.microsoft.com/office/drawing/2014/main" id="{9FA4187F-49B5-4450-91C3-095E07306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480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Lead Trace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F31CA2-0A6C-4362-A986-9F2655342B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7d0656bdfc4cec">
            <a:extLst>
              <a:ext uri="{96DAC541-7B7A-43D3-8B79-37D633B846F1}">
                <asvg:svgBlip xmlns:asvg="http://schemas.microsoft.com/office/drawing/2016/SVG/main" r:embed="R6d08e3cd458d4f4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010900" y="266700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3" name="Lead Trace architecture">
            <a:extLst xmlns:a="http://schemas.openxmlformats.org/drawingml/2006/main">
              <a:ext uri="{FF2B5EF4-FFF2-40B4-BE49-F238E27FC236}">
                <a16:creationId xmlns:a16="http://schemas.microsoft.com/office/drawing/2014/main" id="{969901D4-1DBB-4947-BBC3-A35813FD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9728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Lead Trace architecture</a:t>
            </a:r>
          </a:p>
        </p:txBody>
      </p:sp>
      <p:sp>
        <p:nvSpPr>
          <p:cNvPr id="4" name="Discovery and CRM in the API; research in a separate ba">
            <a:extLst xmlns:a="http://schemas.openxmlformats.org/drawingml/2006/main">
              <a:ext uri="{FF2B5EF4-FFF2-40B4-BE49-F238E27FC236}">
                <a16:creationId xmlns:a16="http://schemas.microsoft.com/office/drawing/2014/main" id="{D91C9557-2CEB-4212-941A-2ED7D35B1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95425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rPr>
              <a:t>Discovery and CRM in the API; research in a separate background worker</a:t>
            </a:r>
          </a:p>
        </p:txBody>
      </p:sp>
      <p:cxnSp>
        <p:nvCxnSpPr>
          <p:cNvPr id="5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86DA8142-C6DC-4CE4-910E-50C9FF8B25A6}"/>
              </a:ext>
            </a:extLst>
          </p:cNvPr>
          <p:cNvCxnSpPr/>
          <p:nvPr/>
        </p:nvCxnSpPr>
        <p:spPr>
          <a:xfrm xmlns:a="http://schemas.openxmlformats.org/drawingml/2006/main">
            <a:off x="3009900" y="30003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  <a:tailEnd type="triangle" w="med" len="med"/>
          </a:ln>
        </p:spPr>
      </p:cxnSp>
      <p:cxnSp>
        <p:nvCxnSpPr>
          <p:cNvPr id="6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58A9FD46-2E07-4E2A-AF42-57B9893FA05D}"/>
              </a:ext>
            </a:extLst>
          </p:cNvPr>
          <p:cNvCxnSpPr/>
          <p:nvPr/>
        </p:nvCxnSpPr>
        <p:spPr>
          <a:xfrm xmlns:a="http://schemas.openxmlformats.org/drawingml/2006/main">
            <a:off x="5867400" y="30003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  <a:tailEnd type="triangle" w="med" len="med"/>
          </a:ln>
        </p:spPr>
      </p:cxnSp>
      <p:cxnSp>
        <p:nvCxnSpPr>
          <p:cNvPr id="7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0FF4CAD3-7E31-4A0C-8408-1CB027E5BF4D}"/>
              </a:ext>
            </a:extLst>
          </p:cNvPr>
          <p:cNvCxnSpPr/>
          <p:nvPr/>
        </p:nvCxnSpPr>
        <p:spPr>
          <a:xfrm xmlns:a="http://schemas.openxmlformats.org/drawingml/2006/main">
            <a:off x="8724900" y="30003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  <a:tailEnd type="triangle" w="med" len="med"/>
          </a:ln>
        </p:spPr>
      </p:cxnSp>
      <p:cxnSp>
        <p:nvCxnSpPr>
          <p:cNvPr id="8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682E816D-AA33-48AC-BF09-5C02A7D6233A}"/>
              </a:ext>
            </a:extLst>
          </p:cNvPr>
          <p:cNvCxnSpPr/>
          <p:nvPr/>
        </p:nvCxnSpPr>
        <p:spPr>
          <a:xfrm xmlns:a="http://schemas.openxmlformats.org/drawingml/2006/main">
            <a:off x="4667250" y="3667125"/>
            <a:ext cx="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  <a:tailEnd type="triangle" w="med" len="med"/>
          </a:ln>
        </p:spPr>
      </p:cxnSp>
      <p:cxnSp>
        <p:nvCxnSpPr>
          <p:cNvPr id="9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F38A085E-BD02-4434-B1F1-C2528E1A73A4}"/>
              </a:ext>
            </a:extLst>
          </p:cNvPr>
          <p:cNvCxnSpPr/>
          <p:nvPr/>
        </p:nvCxnSpPr>
        <p:spPr>
          <a:xfrm xmlns:a="http://schemas.openxmlformats.org/drawingml/2006/main">
            <a:off x="5238750" y="3667125"/>
            <a:ext cx="0" cy="5238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</a:ln>
        </p:spPr>
      </p:cxnSp>
      <p:cxnSp>
        <p:nvCxnSpPr>
          <p:cNvPr id="10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A00A446A-C79A-4842-B206-32965B9C8436}"/>
              </a:ext>
            </a:extLst>
          </p:cNvPr>
          <p:cNvCxnSpPr/>
          <p:nvPr/>
        </p:nvCxnSpPr>
        <p:spPr>
          <a:xfrm xmlns:a="http://schemas.openxmlformats.org/drawingml/2006/main">
            <a:off x="5238750" y="4191000"/>
            <a:ext cx="22860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</a:ln>
        </p:spPr>
      </p:cxnSp>
      <p:cxnSp>
        <p:nvCxnSpPr>
          <p:cNvPr id="11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1D7958D7-346E-4B1F-B446-72D31F845F24}"/>
              </a:ext>
            </a:extLst>
          </p:cNvPr>
          <p:cNvCxnSpPr/>
          <p:nvPr/>
        </p:nvCxnSpPr>
        <p:spPr>
          <a:xfrm xmlns:a="http://schemas.openxmlformats.org/drawingml/2006/main">
            <a:off x="7524750" y="4191000"/>
            <a:ext cx="0" cy="333375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  <a:tailEnd type="triangle" w="med" len="med"/>
          </a:ln>
        </p:spPr>
      </p:cxnSp>
      <p:cxnSp>
        <p:nvCxnSpPr>
          <p:cNvPr id="12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DCC4BFCF-FB46-4F11-982A-E7ADB766A49F}"/>
              </a:ext>
            </a:extLst>
          </p:cNvPr>
          <p:cNvCxnSpPr/>
          <p:nvPr/>
        </p:nvCxnSpPr>
        <p:spPr>
          <a:xfrm xmlns:a="http://schemas.openxmlformats.org/drawingml/2006/main">
            <a:off x="5619750" y="3667125"/>
            <a:ext cx="0" cy="2857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</a:ln>
        </p:spPr>
      </p:cxnSp>
      <p:cxnSp>
        <p:nvCxnSpPr>
          <p:cNvPr id="13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F0DA3ADE-9322-469C-8CE7-0EE09F7F9991}"/>
              </a:ext>
            </a:extLst>
          </p:cNvPr>
          <p:cNvCxnSpPr/>
          <p:nvPr/>
        </p:nvCxnSpPr>
        <p:spPr>
          <a:xfrm xmlns:a="http://schemas.openxmlformats.org/drawingml/2006/main">
            <a:off x="5619750" y="3952875"/>
            <a:ext cx="33337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</a:ln>
        </p:spPr>
      </p:cxnSp>
      <p:cxnSp>
        <p:nvCxnSpPr>
          <p:cNvPr id="14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42D45A54-CE3C-4A0D-9F9E-225C268E816A}"/>
              </a:ext>
            </a:extLst>
          </p:cNvPr>
          <p:cNvCxnSpPr/>
          <p:nvPr/>
        </p:nvCxnSpPr>
        <p:spPr>
          <a:xfrm xmlns:a="http://schemas.openxmlformats.org/drawingml/2006/main">
            <a:off x="8953500" y="3952875"/>
            <a:ext cx="0" cy="125730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</a:ln>
        </p:spPr>
      </p:cxnSp>
      <p:cxnSp>
        <p:nvCxnSpPr>
          <p:cNvPr id="15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A1C7474D-2946-4F8C-AA20-007025737283}"/>
              </a:ext>
            </a:extLst>
          </p:cNvPr>
          <p:cNvCxnSpPr/>
          <p:nvPr/>
        </p:nvCxnSpPr>
        <p:spPr>
          <a:xfrm xmlns:a="http://schemas.openxmlformats.org/drawingml/2006/main">
            <a:off x="8953500" y="5210175"/>
            <a:ext cx="22860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  <a:tailEnd type="triangle" w="med" len="med"/>
          </a:ln>
        </p:spPr>
      </p:cxnSp>
      <p:cxnSp>
        <p:nvCxnSpPr>
          <p:cNvPr id="16" name="Blue process arrow">
            <a:extLst xmlns:a="http://schemas.openxmlformats.org/drawingml/2006/main">
              <a:ext uri="{FF2B5EF4-FFF2-40B4-BE49-F238E27FC236}">
                <a16:creationId xmlns:a16="http://schemas.microsoft.com/office/drawing/2014/main" id="{366EC5CF-327F-4410-827A-75119787C8CE}"/>
              </a:ext>
            </a:extLst>
          </p:cNvPr>
          <p:cNvCxnSpPr/>
          <p:nvPr/>
        </p:nvCxnSpPr>
        <p:spPr>
          <a:xfrm xmlns:a="http://schemas.openxmlformats.org/drawingml/2006/main">
            <a:off x="10382250" y="3667125"/>
            <a:ext cx="0" cy="85725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1768C7"/>
            </a:solidFill>
            <a:tailEnd type="triangle" w="med" len="med"/>
          </a:ln>
        </p:spPr>
      </p:cxnSp>
      <p:sp>
        <p:nvSpPr>
          <p:cNvPr id="17" name="Web dashboard rectangle">
            <a:extLst xmlns:a="http://schemas.openxmlformats.org/drawingml/2006/main">
              <a:ext uri="{FF2B5EF4-FFF2-40B4-BE49-F238E27FC236}">
                <a16:creationId xmlns:a16="http://schemas.microsoft.com/office/drawing/2014/main" id="{357C094C-3321-43BC-91E0-D87C5647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24003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C4DAF5"/>
            </a:solidFill>
          </a:ln>
        </p:spPr>
      </p:sp>
      <p:sp>
        <p:nvSpPr>
          <p:cNvPr id="18" name="Web dashboard">
            <a:extLst xmlns:a="http://schemas.openxmlformats.org/drawingml/2006/main">
              <a:ext uri="{FF2B5EF4-FFF2-40B4-BE49-F238E27FC236}">
                <a16:creationId xmlns:a16="http://schemas.microsoft.com/office/drawing/2014/main" id="{6E00019A-AB0D-4149-A87F-838BEA0B0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66975"/>
            <a:ext cx="2057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Web dashboard</a:t>
            </a:r>
          </a:p>
        </p:txBody>
      </p:sp>
      <p:sp>
        <p:nvSpPr>
          <p:cNvPr id="19" name="Next.js&#10;Cloudflare / OpenNext">
            <a:extLst xmlns:a="http://schemas.openxmlformats.org/drawingml/2006/main">
              <a:ext uri="{FF2B5EF4-FFF2-40B4-BE49-F238E27FC236}">
                <a16:creationId xmlns:a16="http://schemas.microsoft.com/office/drawing/2014/main" id="{262A8D40-1CCE-4416-8090-43BB82497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47975"/>
            <a:ext cx="2057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Next.js</a:t>
            </a:r>
          </a:p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Cloudflare / OpenNext</a:t>
            </a:r>
          </a:p>
        </p:txBody>
      </p:sp>
      <p:sp>
        <p:nvSpPr>
          <p:cNvPr id="20" name="API and accounts rectangle">
            <a:extLst xmlns:a="http://schemas.openxmlformats.org/drawingml/2006/main">
              <a:ext uri="{FF2B5EF4-FFF2-40B4-BE49-F238E27FC236}">
                <a16:creationId xmlns:a16="http://schemas.microsoft.com/office/drawing/2014/main" id="{F99B880D-8C62-4423-A24F-5410D836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33625"/>
            <a:ext cx="24003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C4DAF5"/>
            </a:solidFill>
          </a:ln>
        </p:spPr>
      </p:sp>
      <p:sp>
        <p:nvSpPr>
          <p:cNvPr id="21" name="API and accounts">
            <a:extLst xmlns:a="http://schemas.openxmlformats.org/drawingml/2006/main">
              <a:ext uri="{FF2B5EF4-FFF2-40B4-BE49-F238E27FC236}">
                <a16:creationId xmlns:a16="http://schemas.microsoft.com/office/drawing/2014/main" id="{F0A15AB2-8461-4033-980B-56A859AC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66975"/>
            <a:ext cx="2057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API and accounts</a:t>
            </a:r>
          </a:p>
        </p:txBody>
      </p:sp>
      <p:sp>
        <p:nvSpPr>
          <p:cNvPr id="22" name="NestJS · Better Auth&#10;CRM + lead jobs">
            <a:extLst xmlns:a="http://schemas.openxmlformats.org/drawingml/2006/main">
              <a:ext uri="{FF2B5EF4-FFF2-40B4-BE49-F238E27FC236}">
                <a16:creationId xmlns:a16="http://schemas.microsoft.com/office/drawing/2014/main" id="{560D39D4-D43C-4519-9F3B-731D610B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847975"/>
            <a:ext cx="2057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NestJS · Better Auth</a:t>
            </a:r>
          </a:p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CRM + lead jobs</a:t>
            </a:r>
          </a:p>
        </p:txBody>
      </p:sp>
      <p:sp>
        <p:nvSpPr>
          <p:cNvPr id="23" name="Data and jobs rectangle">
            <a:extLst xmlns:a="http://schemas.openxmlformats.org/drawingml/2006/main">
              <a:ext uri="{FF2B5EF4-FFF2-40B4-BE49-F238E27FC236}">
                <a16:creationId xmlns:a16="http://schemas.microsoft.com/office/drawing/2014/main" id="{5360F29F-5827-4324-BA29-F0FBB9815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333625"/>
            <a:ext cx="24003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C4DAF5"/>
            </a:solidFill>
          </a:ln>
        </p:spPr>
      </p:sp>
      <p:sp>
        <p:nvSpPr>
          <p:cNvPr id="24" name="Data and jobs">
            <a:extLst xmlns:a="http://schemas.openxmlformats.org/drawingml/2006/main">
              <a:ext uri="{FF2B5EF4-FFF2-40B4-BE49-F238E27FC236}">
                <a16:creationId xmlns:a16="http://schemas.microsoft.com/office/drawing/2014/main" id="{253A1F6A-1595-403A-8F6F-DB318D301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466975"/>
            <a:ext cx="2057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Data and jobs</a:t>
            </a:r>
          </a:p>
        </p:txBody>
      </p:sp>
      <p:sp>
        <p:nvSpPr>
          <p:cNvPr id="25" name="PostgreSQL&#10;Prisma · job leases">
            <a:extLst xmlns:a="http://schemas.openxmlformats.org/drawingml/2006/main">
              <a:ext uri="{FF2B5EF4-FFF2-40B4-BE49-F238E27FC236}">
                <a16:creationId xmlns:a16="http://schemas.microsoft.com/office/drawing/2014/main" id="{BC5778BE-784D-4D47-BE69-0DEDF7D24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847975"/>
            <a:ext cx="2057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PostgreSQL</a:t>
            </a:r>
          </a:p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Prisma · job leases</a:t>
            </a:r>
          </a:p>
        </p:txBody>
      </p:sp>
      <p:sp>
        <p:nvSpPr>
          <p:cNvPr id="26" name="Research worker rectangle">
            <a:extLst xmlns:a="http://schemas.openxmlformats.org/drawingml/2006/main">
              <a:ext uri="{FF2B5EF4-FFF2-40B4-BE49-F238E27FC236}">
                <a16:creationId xmlns:a16="http://schemas.microsoft.com/office/drawing/2014/main" id="{72973421-28A2-40C4-A2F7-A5311BA2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333625"/>
            <a:ext cx="240030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C4DAF5"/>
            </a:solidFill>
          </a:ln>
        </p:spPr>
      </p:sp>
      <p:sp>
        <p:nvSpPr>
          <p:cNvPr id="27" name="Research worker">
            <a:extLst xmlns:a="http://schemas.openxmlformats.org/drawingml/2006/main">
              <a:ext uri="{FF2B5EF4-FFF2-40B4-BE49-F238E27FC236}">
                <a16:creationId xmlns:a16="http://schemas.microsoft.com/office/drawing/2014/main" id="{6B44CED0-30F3-478B-A4FF-D563D51F8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466975"/>
            <a:ext cx="2057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Research worker</a:t>
            </a:r>
          </a:p>
        </p:txBody>
      </p:sp>
      <p:sp>
        <p:nvSpPr>
          <p:cNvPr id="28" name="Python&#10;LangGraph">
            <a:extLst xmlns:a="http://schemas.openxmlformats.org/drawingml/2006/main">
              <a:ext uri="{FF2B5EF4-FFF2-40B4-BE49-F238E27FC236}">
                <a16:creationId xmlns:a16="http://schemas.microsoft.com/office/drawing/2014/main" id="{0C563E3A-F7CA-4CDD-863E-8AE4A311A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847975"/>
            <a:ext cx="20574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Python</a:t>
            </a:r>
          </a:p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LangGraph</a:t>
            </a:r>
          </a:p>
        </p:txBody>
      </p:sp>
      <p:sp>
        <p:nvSpPr>
          <p:cNvPr id="29" name="Public discovery and company registries rectangle">
            <a:extLst xmlns:a="http://schemas.openxmlformats.org/drawingml/2006/main">
              <a:ext uri="{FF2B5EF4-FFF2-40B4-BE49-F238E27FC236}">
                <a16:creationId xmlns:a16="http://schemas.microsoft.com/office/drawing/2014/main" id="{2E49CA40-B9FD-41F3-B973-4CEBA4CA2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52578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C4DAF5"/>
            </a:solidFill>
          </a:ln>
        </p:spPr>
      </p:sp>
      <p:sp>
        <p:nvSpPr>
          <p:cNvPr id="30" name="Public discovery and company registries">
            <a:extLst xmlns:a="http://schemas.openxmlformats.org/drawingml/2006/main">
              <a:ext uri="{FF2B5EF4-FFF2-40B4-BE49-F238E27FC236}">
                <a16:creationId xmlns:a16="http://schemas.microsoft.com/office/drawing/2014/main" id="{8F3FB977-33C3-47AD-8564-3AE83AFF1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57725"/>
            <a:ext cx="49149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Public discovery and company registries</a:t>
            </a:r>
          </a:p>
        </p:txBody>
      </p:sp>
      <p:sp>
        <p:nvSpPr>
          <p:cNvPr id="31" name="Tavily Search · Extract · Crawl&#10;GLEIF · Wikidata · SEC ">
            <a:extLst xmlns:a="http://schemas.openxmlformats.org/drawingml/2006/main">
              <a:ext uri="{FF2B5EF4-FFF2-40B4-BE49-F238E27FC236}">
                <a16:creationId xmlns:a16="http://schemas.microsoft.com/office/drawing/2014/main" id="{D240407E-9EC2-40EC-8D6D-4549D9E41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38725"/>
            <a:ext cx="49149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Tavily Search · Extract · Crawl</a:t>
            </a:r>
          </a:p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GLEIF · Wikidata · SEC EDGAR</a:t>
            </a:r>
          </a:p>
        </p:txBody>
      </p:sp>
      <p:sp>
        <p:nvSpPr>
          <p:cNvPr id="32" name="Optional integration rectangle">
            <a:extLst xmlns:a="http://schemas.openxmlformats.org/drawingml/2006/main">
              <a:ext uri="{FF2B5EF4-FFF2-40B4-BE49-F238E27FC236}">
                <a16:creationId xmlns:a16="http://schemas.microsoft.com/office/drawing/2014/main" id="{97FCC947-163E-410E-85C4-3004C3E62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524375"/>
            <a:ext cx="24003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C4DAF5"/>
            </a:solidFill>
          </a:ln>
        </p:spPr>
      </p:sp>
      <p:sp>
        <p:nvSpPr>
          <p:cNvPr id="33" name="Optional integration">
            <a:extLst xmlns:a="http://schemas.openxmlformats.org/drawingml/2006/main">
              <a:ext uri="{FF2B5EF4-FFF2-40B4-BE49-F238E27FC236}">
                <a16:creationId xmlns:a16="http://schemas.microsoft.com/office/drawing/2014/main" id="{352B2958-B78A-46BB-96ED-904254806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657725"/>
            <a:ext cx="2057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Optional integration</a:t>
            </a:r>
          </a:p>
        </p:txBody>
      </p:sp>
      <p:sp>
        <p:nvSpPr>
          <p:cNvPr id="34" name="Google Calendar&#10;OAuth · meetings">
            <a:extLst xmlns:a="http://schemas.openxmlformats.org/drawingml/2006/main">
              <a:ext uri="{FF2B5EF4-FFF2-40B4-BE49-F238E27FC236}">
                <a16:creationId xmlns:a16="http://schemas.microsoft.com/office/drawing/2014/main" id="{B2BF2ABC-25C3-4386-BF10-968840DB2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5038725"/>
            <a:ext cx="2057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Google Calendar</a:t>
            </a:r>
          </a:p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OAuth · meetings</a:t>
            </a:r>
          </a:p>
        </p:txBody>
      </p:sp>
      <p:sp>
        <p:nvSpPr>
          <p:cNvPr id="35" name="AI inference rectangle">
            <a:extLst xmlns:a="http://schemas.openxmlformats.org/drawingml/2006/main">
              <a:ext uri="{FF2B5EF4-FFF2-40B4-BE49-F238E27FC236}">
                <a16:creationId xmlns:a16="http://schemas.microsoft.com/office/drawing/2014/main" id="{BE2F3073-723B-49D0-8F8B-61D216AF0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4524375"/>
            <a:ext cx="2400300" cy="13716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C4DAF5"/>
            </a:solidFill>
          </a:ln>
        </p:spPr>
      </p:sp>
      <p:sp>
        <p:nvSpPr>
          <p:cNvPr id="36" name="AI inference">
            <a:extLst xmlns:a="http://schemas.openxmlformats.org/drawingml/2006/main">
              <a:ext uri="{FF2B5EF4-FFF2-40B4-BE49-F238E27FC236}">
                <a16:creationId xmlns:a16="http://schemas.microsoft.com/office/drawing/2014/main" id="{E90E784C-9E19-43CC-9B08-F2FC55318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57725"/>
            <a:ext cx="20574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AI inference</a:t>
            </a:r>
          </a:p>
        </p:txBody>
      </p:sp>
      <p:sp>
        <p:nvSpPr>
          <p:cNvPr id="37" name="Qwen / DashScope&#10;Qualification + briefs">
            <a:extLst xmlns:a="http://schemas.openxmlformats.org/drawingml/2006/main">
              <a:ext uri="{FF2B5EF4-FFF2-40B4-BE49-F238E27FC236}">
                <a16:creationId xmlns:a16="http://schemas.microsoft.com/office/drawing/2014/main" id="{61D3BC15-F588-4C4E-9F3D-A1BC42267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5038725"/>
            <a:ext cx="20574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Qwen / DashScope</a:t>
            </a:r>
          </a:p>
          <a:p xmlns:a="http://schemas.openxmlformats.org/drawingml/2006/main">
            <a:pPr>
              <a:buNone/>
              <a:def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 b="0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Qualification + briefs</a:t>
            </a:r>
          </a:p>
        </p:txBody>
      </p:sp>
      <p:sp>
        <p:nvSpPr>
          <p:cNvPr id="38" name="The API and research worker share source evidence and t">
            <a:extLst xmlns:a="http://schemas.openxmlformats.org/drawingml/2006/main">
              <a:ext uri="{FF2B5EF4-FFF2-40B4-BE49-F238E27FC236}">
                <a16:creationId xmlns:a16="http://schemas.microsoft.com/office/drawing/2014/main" id="{5AAD94F6-5994-49E6-9A9B-9DFE6BA16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15050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650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650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650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650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650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650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650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650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650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rPr>
              <a:t>The API and research worker share source evidence and the configured model provider.</a:t>
            </a:r>
          </a:p>
        </p:txBody>
      </p:sp>
      <p:sp>
        <p:nvSpPr>
          <p:cNvPr id="39" name="leadtrace.online">
            <a:extLst xmlns:a="http://schemas.openxmlformats.org/drawingml/2006/main">
              <a:ext uri="{FF2B5EF4-FFF2-40B4-BE49-F238E27FC236}">
                <a16:creationId xmlns:a16="http://schemas.microsoft.com/office/drawing/2014/main" id="{7C3E0BBB-5215-416B-B05D-CF5F6EAA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109728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25" b="0">
                <a:solidFill>
                  <a:srgbClr val="607DA3"/>
                </a:solidFill>
                <a:latin typeface="Helvetica Neue"/>
                <a:ea typeface="Helvetica Neue"/>
                <a:cs typeface="Helvetica Neue"/>
              </a:rPr>
              <a:t>leadtrace.online</a:t>
            </a:r>
          </a:p>
        </p:txBody>
      </p:sp>
    </p:spTree>
    <p:extLst>
      <p:ext uri="{BB962C8B-B14F-4D97-AF65-F5344CB8AC3E}">
        <p14:creationId xmlns:p14="http://schemas.microsoft.com/office/powerpoint/2010/main" val="111310565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0DDBD7-3F7F-4365-9F9D-44BE90EB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Meetings and follow-ups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0269FE-8176-4386-BD8B-F8FE764A2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3049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Optional Google Calendar scheduling, with explicit invitation control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9AAF7F8-E98B-44A3-AB97-9763F85D1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86000"/>
            <a:ext cx="4476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Connect your own Calendar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78BB97-742A-43A5-9D30-8A06F4680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000375"/>
            <a:ext cx="4476750" cy="2400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Create an event from a contact.</a:t>
            </a:r>
          </a:p>
          <a:p xmlns:a="http://schemas.openxmlformats.org/drawingml/2006/main">
            <a: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Choose whether to invite the contact.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You can track a follow-up</a:t>
            </a:r>
          </a:p>
          <a:p xmlns:a="http://schemas.openxmlformats.org/drawingml/2006/main">
            <a: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without connecting Calendar.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46365F-297E-4B39-BCFC-A147752FD18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4764bfbc5e4754"/>
          <a:stretch xmlns:a="http://schemas.openxmlformats.org/drawingml/2006/main"/>
        </p:blipFill>
        <p:spPr>
          <a:xfrm xmlns:a="http://schemas.openxmlformats.org/drawingml/2006/main">
            <a:off x="5495925" y="2238375"/>
            <a:ext cx="6000750" cy="4000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FA2A06-E9DC-4609-BC9D-38007D71F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391275"/>
            <a:ext cx="1085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4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4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4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4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4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4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4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4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4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Account authorization is required. Invitations are opt-in; two-way Calendar sync remains planned.</a:t>
            </a:r>
          </a:p>
        </p:txBody>
      </p:sp>
    </p:spTree>
    <p:extLst>
      <p:ext uri="{BB962C8B-B14F-4D97-AF65-F5344CB8AC3E}">
        <p14:creationId xmlns:p14="http://schemas.microsoft.com/office/powerpoint/2010/main" val="15974254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51A2A3-6AE5-4723-A189-086C9F0B2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"/>
            <a:ext cx="109728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3525" b="1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Live validation and next priorities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FDCF33D-D8DB-4A10-8BF5-4D0FEB5C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304925"/>
            <a:ext cx="10858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What has been demonstrated, and what remains ahead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164C190-8E6E-411E-8933-C98E84AF0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228850"/>
            <a:ext cx="5143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Live audit · 23 October 2026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FD3DC5-A66D-4AD5-8BBF-AEB991FFC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2924175"/>
            <a:ext cx="5095875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9 prospective buyers discovered</a:t>
            </a:r>
          </a:p>
          <a:p xmlns:a="http://schemas.openxmlformats.org/drawingml/2006/main">
            <a: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1 matched all sourced criteria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CRM save to a completed cited brief</a:t>
            </a:r>
          </a:p>
          <a:p xmlns:a="http://schemas.openxmlformats.org/drawingml/2006/main">
            <a: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11 research sources · 15 evidence items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6D18A3-537F-4353-8183-2DA66E8D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228850"/>
            <a:ext cx="5095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defRPr>
            </a:pPr>
            <a:r>
              <a:rPr sz="2175" b="1">
                <a:solidFill>
                  <a:srgbClr val="126FCE"/>
                </a:solidFill>
                <a:latin typeface="Helvetica Neue"/>
                <a:ea typeface="Helvetica Neue"/>
                <a:cs typeface="Helvetica Neue"/>
              </a:rPr>
              <a:t>Next priorities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173B61-05B1-4127-94DD-BB3796B53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924175"/>
            <a:ext cx="5095875" cy="2381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Shared company records</a:t>
            </a:r>
          </a:p>
          <a:p xmlns:a="http://schemas.openxmlformats.org/drawingml/2006/main">
            <a: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Contact merging</a:t>
            </a:r>
          </a:p>
          <a:p xmlns:a="http://schemas.openxmlformats.org/drawingml/2006/main">
            <a: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Recurring lead searches</a:t>
            </a:r>
          </a:p>
          <a:p xmlns:a="http://schemas.openxmlformats.org/drawingml/2006/main">
            <a: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Email integration</a:t>
            </a:r>
          </a:p>
          <a:p xmlns:a="http://schemas.openxmlformats.org/drawingml/2006/main">
            <a:pPr>
              <a:buNone/>
              <a:def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defRPr>
            </a:pPr>
            <a:r>
              <a:rPr sz="2025" b="0">
                <a:solidFill>
                  <a:srgbClr val="0B214A"/>
                </a:solidFill>
                <a:latin typeface="Helvetica Neue"/>
                <a:ea typeface="Helvetica Neue"/>
                <a:cs typeface="Helvetica Neue"/>
              </a:rPr>
              <a:t>Two-way Calendar sync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EEA47E-C88D-40D8-BC9E-6E0366699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6134100"/>
            <a:ext cx="10839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defPPr>
            <a:lvl1pPr>
              <a:buNone/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1pPr>
            <a:lvl2pPr>
              <a:buNone/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2pPr>
            <a:lvl3pPr>
              <a:buNone/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3pPr>
            <a:lvl4pPr>
              <a:buNone/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4pPr>
            <a:lvl5pPr>
              <a:buNone/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5pPr>
            <a:lvl6pPr>
              <a:buNone/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6pPr>
            <a:lvl7pPr>
              <a:buNone/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7pPr>
            <a:lvl8pPr>
              <a:buNone/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8pPr>
            <a:lvl9pPr>
              <a:buNone/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75" b="0">
                <a:solidFill>
                  <a:srgbClr val="58718B"/>
                </a:solidFill>
                <a:latin typeface="Helvetica Neue"/>
                <a:ea typeface="Helvetica Neue"/>
                <a:cs typeface="Helvetica Neue"/>
              </a:rPr>
              <a:t>One live cohort, not a market-coverage benchmark. Buying intent and contact details remain unverified.</a:t>
            </a:r>
          </a:p>
        </p:txBody>
      </p:sp>
    </p:spTree>
    <p:extLst>
      <p:ext uri="{BB962C8B-B14F-4D97-AF65-F5344CB8AC3E}">
        <p14:creationId xmlns:p14="http://schemas.microsoft.com/office/powerpoint/2010/main" val="203610142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A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A8D79A-7530-419F-A377-66D1C624A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23875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>
                <a:solidFill>
                  <a:srgbClr val="173B75"/>
                </a:solidFill>
              </a:defRPr>
            </a:defPPr>
            <a:lvl1pPr>
              <a:buNone/>
              <a:defRPr>
                <a:solidFill>
                  <a:srgbClr val="173B75"/>
                </a:solidFill>
              </a:defRPr>
            </a:lvl1pPr>
            <a:lvl2pPr>
              <a:buNone/>
              <a:defRPr>
                <a:solidFill>
                  <a:srgbClr val="173B75"/>
                </a:solidFill>
              </a:defRPr>
            </a:lvl2pPr>
            <a:lvl3pPr>
              <a:buNone/>
              <a:defRPr>
                <a:solidFill>
                  <a:srgbClr val="173B75"/>
                </a:solidFill>
              </a:defRPr>
            </a:lvl3pPr>
            <a:lvl4pPr>
              <a:buNone/>
              <a:defRPr>
                <a:solidFill>
                  <a:srgbClr val="173B75"/>
                </a:solidFill>
              </a:defRPr>
            </a:lvl4pPr>
            <a:lvl5pPr>
              <a:buNone/>
              <a:defRPr>
                <a:solidFill>
                  <a:srgbClr val="173B75"/>
                </a:solidFill>
              </a:defRPr>
            </a:lvl5pPr>
            <a:lvl6pPr>
              <a:buNone/>
              <a:defRPr>
                <a:solidFill>
                  <a:srgbClr val="173B75"/>
                </a:solidFill>
              </a:defRPr>
            </a:lvl6pPr>
            <a:lvl7pPr>
              <a:buNone/>
              <a:defRPr>
                <a:solidFill>
                  <a:srgbClr val="173B75"/>
                </a:solidFill>
              </a:defRPr>
            </a:lvl7pPr>
            <a:lvl8pPr>
              <a:buNone/>
              <a:defRPr>
                <a:solidFill>
                  <a:srgbClr val="173B75"/>
                </a:solidFill>
              </a:defRPr>
            </a:lvl8pPr>
            <a:lvl9pPr>
              <a:buNone/>
              <a:defRPr>
                <a:solidFill>
                  <a:srgbClr val="173B75"/>
                </a:solidFill>
              </a:defRPr>
            </a:lvl9pPr>
          </a:lstStyle>
          <a:p xmlns:a="http://schemas.openxmlformats.org/drawingml/2006/main">
            <a:pPr>
              <a:buNone/>
              <a:defRPr sz="420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20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Lead Trace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0578014-F9F2-4E9A-B96B-44185B5E9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38325"/>
            <a:ext cx="6953250" cy="2705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>
                <a:solidFill>
                  <a:srgbClr val="173B75"/>
                </a:solidFill>
              </a:defRPr>
            </a:defPPr>
            <a:lvl1pPr>
              <a:buNone/>
              <a:defRPr>
                <a:solidFill>
                  <a:srgbClr val="173B75"/>
                </a:solidFill>
              </a:defRPr>
            </a:lvl1pPr>
            <a:lvl2pPr>
              <a:buNone/>
              <a:defRPr>
                <a:solidFill>
                  <a:srgbClr val="173B75"/>
                </a:solidFill>
              </a:defRPr>
            </a:lvl2pPr>
            <a:lvl3pPr>
              <a:buNone/>
              <a:defRPr>
                <a:solidFill>
                  <a:srgbClr val="173B75"/>
                </a:solidFill>
              </a:defRPr>
            </a:lvl3pPr>
            <a:lvl4pPr>
              <a:buNone/>
              <a:defRPr>
                <a:solidFill>
                  <a:srgbClr val="173B75"/>
                </a:solidFill>
              </a:defRPr>
            </a:lvl4pPr>
            <a:lvl5pPr>
              <a:buNone/>
              <a:defRPr>
                <a:solidFill>
                  <a:srgbClr val="173B75"/>
                </a:solidFill>
              </a:defRPr>
            </a:lvl5pPr>
            <a:lvl6pPr>
              <a:buNone/>
              <a:defRPr>
                <a:solidFill>
                  <a:srgbClr val="173B75"/>
                </a:solidFill>
              </a:defRPr>
            </a:lvl6pPr>
            <a:lvl7pPr>
              <a:buNone/>
              <a:defRPr>
                <a:solidFill>
                  <a:srgbClr val="173B75"/>
                </a:solidFill>
              </a:defRPr>
            </a:lvl7pPr>
            <a:lvl8pPr>
              <a:buNone/>
              <a:defRPr>
                <a:solidFill>
                  <a:srgbClr val="173B75"/>
                </a:solidFill>
              </a:defRPr>
            </a:lvl8pPr>
            <a:lvl9pPr>
              <a:buNone/>
              <a:defRPr>
                <a:solidFill>
                  <a:srgbClr val="173B75"/>
                </a:solidFill>
              </a:defRPr>
            </a:lvl9pPr>
          </a:lstStyle>
          <a:p xmlns:a="http://schemas.openxmlformats.org/drawingml/2006/main">
            <a:pPr>
              <a:buNone/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Find the lead.</a:t>
            </a:r>
          </a:p>
          <a:p xmlns:a="http://schemas.openxmlformats.org/drawingml/2006/main">
            <a:pPr>
              <a:buNone/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Know the context.</a:t>
            </a:r>
          </a:p>
          <a:p xmlns:a="http://schemas.openxmlformats.org/drawingml/2006/main">
            <a:pPr>
              <a:buNone/>
              <a:defRPr sz="46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46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Track the next step.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5AFA7C-5D3E-4F14-B0BF-CF2AAD2C1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952625"/>
            <a:ext cx="3238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>
                <a:solidFill>
                  <a:srgbClr val="1768C7"/>
                </a:solidFill>
              </a:defRPr>
            </a:defPPr>
            <a:lvl1pPr>
              <a:buNone/>
              <a:defRPr>
                <a:solidFill>
                  <a:srgbClr val="1768C7"/>
                </a:solidFill>
              </a:defRPr>
            </a:lvl1pPr>
            <a:lvl2pPr>
              <a:buNone/>
              <a:defRPr>
                <a:solidFill>
                  <a:srgbClr val="1768C7"/>
                </a:solidFill>
              </a:defRPr>
            </a:lvl2pPr>
            <a:lvl3pPr>
              <a:buNone/>
              <a:defRPr>
                <a:solidFill>
                  <a:srgbClr val="1768C7"/>
                </a:solidFill>
              </a:defRPr>
            </a:lvl3pPr>
            <a:lvl4pPr>
              <a:buNone/>
              <a:defRPr>
                <a:solidFill>
                  <a:srgbClr val="1768C7"/>
                </a:solidFill>
              </a:defRPr>
            </a:lvl4pPr>
            <a:lvl5pPr>
              <a:buNone/>
              <a:defRPr>
                <a:solidFill>
                  <a:srgbClr val="1768C7"/>
                </a:solidFill>
              </a:defRPr>
            </a:lvl5pPr>
            <a:lvl6pPr>
              <a:buNone/>
              <a:defRPr>
                <a:solidFill>
                  <a:srgbClr val="1768C7"/>
                </a:solidFill>
              </a:defRPr>
            </a:lvl6pPr>
            <a:lvl7pPr>
              <a:buNone/>
              <a:defRPr>
                <a:solidFill>
                  <a:srgbClr val="1768C7"/>
                </a:solidFill>
              </a:defRPr>
            </a:lvl7pPr>
            <a:lvl8pPr>
              <a:buNone/>
              <a:defRPr>
                <a:solidFill>
                  <a:srgbClr val="1768C7"/>
                </a:solidFill>
              </a:defRPr>
            </a:lvl8pPr>
            <a:lvl9pPr>
              <a:buNone/>
              <a:defRPr>
                <a:solidFill>
                  <a:srgbClr val="1768C7"/>
                </a:solidFill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195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Built by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E31A6-09FC-448C-9D9C-CF33AAD9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38425"/>
            <a:ext cx="3514725" cy="2409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>
                <a:solidFill>
                  <a:srgbClr val="173B75"/>
                </a:solidFill>
              </a:defRPr>
            </a:defPPr>
            <a:lvl1pPr>
              <a:buNone/>
              <a:defRPr>
                <a:solidFill>
                  <a:srgbClr val="173B75"/>
                </a:solidFill>
              </a:defRPr>
            </a:lvl1pPr>
            <a:lvl2pPr>
              <a:buNone/>
              <a:defRPr>
                <a:solidFill>
                  <a:srgbClr val="173B75"/>
                </a:solidFill>
              </a:defRPr>
            </a:lvl2pPr>
            <a:lvl3pPr>
              <a:buNone/>
              <a:defRPr>
                <a:solidFill>
                  <a:srgbClr val="173B75"/>
                </a:solidFill>
              </a:defRPr>
            </a:lvl3pPr>
            <a:lvl4pPr>
              <a:buNone/>
              <a:defRPr>
                <a:solidFill>
                  <a:srgbClr val="173B75"/>
                </a:solidFill>
              </a:defRPr>
            </a:lvl4pPr>
            <a:lvl5pPr>
              <a:buNone/>
              <a:defRPr>
                <a:solidFill>
                  <a:srgbClr val="173B75"/>
                </a:solidFill>
              </a:defRPr>
            </a:lvl5pPr>
            <a:lvl6pPr>
              <a:buNone/>
              <a:defRPr>
                <a:solidFill>
                  <a:srgbClr val="173B75"/>
                </a:solidFill>
              </a:defRPr>
            </a:lvl6pPr>
            <a:lvl7pPr>
              <a:buNone/>
              <a:defRPr>
                <a:solidFill>
                  <a:srgbClr val="173B75"/>
                </a:solidFill>
              </a:defRPr>
            </a:lvl7pPr>
            <a:lvl8pPr>
              <a:buNone/>
              <a:defRPr>
                <a:solidFill>
                  <a:srgbClr val="173B75"/>
                </a:solidFill>
              </a:defRPr>
            </a:lvl8pPr>
            <a:lvl9pPr>
              <a:buNone/>
              <a:defRPr>
                <a:solidFill>
                  <a:srgbClr val="173B75"/>
                </a:solidFill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Afnan Ahmad Tariq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Danyal Rana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Helvetica Neue"/>
                <a:ea typeface="Helvetica Neue"/>
                <a:cs typeface="Helvetica Neue"/>
              </a:defRPr>
            </a:pPr>
            <a:r>
              <a:rPr sz="2250" b="1">
                <a:solidFill>
                  <a:srgbClr val="173B75"/>
                </a:solidFill>
                <a:latin typeface="Helvetica Neue"/>
                <a:ea typeface="Helvetica Neue"/>
                <a:cs typeface="Helvetica Neue"/>
              </a:rPr>
              <a:t>Hassan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282CB8-921D-49FF-8971-6B58DC98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" y="5867400"/>
            <a:ext cx="107823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>
                <a:solidFill>
                  <a:srgbClr val="1768C7"/>
                </a:solidFill>
              </a:defRPr>
            </a:defPPr>
            <a:lvl1pPr>
              <a:buNone/>
              <a:defRPr>
                <a:solidFill>
                  <a:srgbClr val="1768C7"/>
                </a:solidFill>
              </a:defRPr>
            </a:lvl1pPr>
            <a:lvl2pPr>
              <a:buNone/>
              <a:defRPr>
                <a:solidFill>
                  <a:srgbClr val="1768C7"/>
                </a:solidFill>
              </a:defRPr>
            </a:lvl2pPr>
            <a:lvl3pPr>
              <a:buNone/>
              <a:defRPr>
                <a:solidFill>
                  <a:srgbClr val="1768C7"/>
                </a:solidFill>
              </a:defRPr>
            </a:lvl3pPr>
            <a:lvl4pPr>
              <a:buNone/>
              <a:defRPr>
                <a:solidFill>
                  <a:srgbClr val="1768C7"/>
                </a:solidFill>
              </a:defRPr>
            </a:lvl4pPr>
            <a:lvl5pPr>
              <a:buNone/>
              <a:defRPr>
                <a:solidFill>
                  <a:srgbClr val="1768C7"/>
                </a:solidFill>
              </a:defRPr>
            </a:lvl5pPr>
            <a:lvl6pPr>
              <a:buNone/>
              <a:defRPr>
                <a:solidFill>
                  <a:srgbClr val="1768C7"/>
                </a:solidFill>
              </a:defRPr>
            </a:lvl6pPr>
            <a:lvl7pPr>
              <a:buNone/>
              <a:defRPr>
                <a:solidFill>
                  <a:srgbClr val="1768C7"/>
                </a:solidFill>
              </a:defRPr>
            </a:lvl7pPr>
            <a:lvl8pPr>
              <a:buNone/>
              <a:defRPr>
                <a:solidFill>
                  <a:srgbClr val="1768C7"/>
                </a:solidFill>
              </a:defRPr>
            </a:lvl8pPr>
            <a:lvl9pPr>
              <a:buNone/>
              <a:defRPr>
                <a:solidFill>
                  <a:srgbClr val="1768C7"/>
                </a:solidFill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63D7F2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68C7"/>
                </a:solidFill>
                <a:latin typeface="Helvetica Neue"/>
                <a:ea typeface="Helvetica Neue"/>
                <a:cs typeface="Helvetica Neue"/>
              </a:rPr>
              <a:t>leadtrace.online</a:t>
            </a:r>
          </a:p>
        </p:txBody>
      </p:sp>
    </p:spTree>
    <p:extLst>
      <p:ext uri="{BB962C8B-B14F-4D97-AF65-F5344CB8AC3E}">
        <p14:creationId xmlns:p14="http://schemas.microsoft.com/office/powerpoint/2010/main" val="4505738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Lead Trace</dc:creator>
  <lastModifiedBy>Lead Trace</lastModifiedBy>
  <dc:title>Lead Trace product pitch</dc:title>
  <dcterms:created xsi:type="dcterms:W3CDTF">2026-10-24T03:01:30.0080000Z</dcterms:created>
  <dcterms:modified xsi:type="dcterms:W3CDTF">2026-10-24T03:01:30.0080000Z</dcterms:modified>
</coreProperties>
</file>